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extraction from clinical documents. I want to flag the framing I chose up front: I treated this as a trust problem rather than an accuracy problem. If a reviewer can't check a field without re-reading the source, the automation hasn't removed the work. That single decision drives the whole architecture you'll see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deliberately separated by what each is reliable at. The LLM does reading comprehension — turning prose into fields — because regex cannot do that on a narrative note. The verification layer decides whether to believe the result, using checkable signals rather than the model's own opinion of itself. And triage is deterministic rules, not the LLM: deciding a potassium of 5.9 needs escalation is clinical policy, and policy has to be auditable and versionable. The LLM's failure mode there would be a plausible-sounding wrong urgency, which is the one that hurts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worth pausing on. First, the model is never asked how confident it is — verbalised confidence is badly calibrated, so confidence here is computed from four things I can actually check. Second, the gate is asymmetric on purpose. For names and drugs, a value that isn't in the document is fabrication and gets blocked outright. For numbers it can't be, because a correct Celsius-to-Fahrenheit conversion produces a value that never appears in the text. Getting that wrong was one of my actual bugs — I'll cover it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rather show the bugs than a clean story. The first one is the one I'd want a reviewer to push on: if you generate your own evaluation data, you will flatter yourself, and the only defence is to deliberately build the part of the corpus your approach is worst at. The narrative documents exist precisely because regex handles them badly and I needed the comparison to be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worked example on the left is the case for the system: both critical findings are plainly visible in the source document, and neither is visible to a human skimming four pages under time pressure. On next steps, the one I'd actually do first is the threshold — 0.70 is currently a judgement call, and it should be derived from what the organisation decides a missed field costs relative to a wrong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640080" y="566928"/>
            <a:ext cx="7863840" cy="786384"/>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Problem Understanding and Objective</a:t>
            </a:r>
            <a:endParaRPr lang="en-US" sz="3200" dirty="0"/>
          </a:p>
        </p:txBody>
      </p:sp>
      <p:sp>
        <p:nvSpPr>
          <p:cNvPr id="3" name="Text 1"/>
          <p:cNvSpPr/>
          <p:nvPr/>
        </p:nvSpPr>
        <p:spPr>
          <a:xfrm>
            <a:off x="640080" y="1353312"/>
            <a:ext cx="7863840" cy="365760"/>
          </a:xfrm>
          <a:prstGeom prst="rect">
            <a:avLst/>
          </a:prstGeom>
          <a:noFill/>
          <a:ln/>
        </p:spPr>
        <p:txBody>
          <a:bodyPr wrap="square" lIns="0" tIns="0" rIns="0" bIns="0" rtlCol="0" anchor="ctr"/>
          <a:lstStyle/>
          <a:p>
            <a:pPr indent="0" marL="0">
              <a:buNone/>
            </a:pPr>
            <a:r>
              <a:rPr lang="en-US" sz="1500" i="1" dirty="0">
                <a:solidFill>
                  <a:srgbClr val="9CC2CB"/>
                </a:solidFill>
                <a:latin typeface="Calibri" pitchFamily="34" charset="0"/>
                <a:ea typeface="Calibri" pitchFamily="34" charset="-122"/>
                <a:cs typeface="Calibri" pitchFamily="34" charset="-120"/>
              </a:rPr>
              <a:t>Clinical Document Intelligence Hub   ·   Arman</a:t>
            </a:r>
            <a:endParaRPr lang="en-US" sz="1500" dirty="0"/>
          </a:p>
        </p:txBody>
      </p:sp>
      <p:sp>
        <p:nvSpPr>
          <p:cNvPr id="4" name="Text 2"/>
          <p:cNvSpPr/>
          <p:nvPr/>
        </p:nvSpPr>
        <p:spPr>
          <a:xfrm>
            <a:off x="640080" y="1965960"/>
            <a:ext cx="6858000" cy="868680"/>
          </a:xfrm>
          <a:prstGeom prst="rect">
            <a:avLst/>
          </a:prstGeom>
          <a:noFill/>
          <a:ln/>
        </p:spPr>
        <p:txBody>
          <a:bodyPr wrap="square" lIns="0" tIns="0" rIns="0" bIns="0" rtlCol="0" anchor="ctr"/>
          <a:lstStyle/>
          <a:p>
            <a:pPr indent="0" marL="0">
              <a:lnSpc>
                <a:spcPts val="2000"/>
              </a:lnSpc>
              <a:buNone/>
            </a:pPr>
            <a:r>
              <a:rPr lang="en-US" sz="1350" b="1" dirty="0">
                <a:solidFill>
                  <a:srgbClr val="FFFFFF"/>
                </a:solidFill>
                <a:latin typeface="Calibri" pitchFamily="34" charset="0"/>
                <a:ea typeface="Calibri" pitchFamily="34" charset="-122"/>
                <a:cs typeface="Calibri" pitchFamily="34" charset="-120"/>
              </a:rPr>
              <a:t>The brief.  </a:t>
            </a:r>
            <a:pPr indent="0" marL="0">
              <a:lnSpc>
                <a:spcPts val="2000"/>
              </a:lnSpc>
              <a:buNone/>
            </a:pPr>
            <a:r>
              <a:rPr lang="en-US" sz="1350" dirty="0">
                <a:solidFill>
                  <a:srgbClr val="D6E4E8"/>
                </a:solidFill>
                <a:latin typeface="Calibri" pitchFamily="34" charset="0"/>
                <a:ea typeface="Calibri" pitchFamily="34" charset="-122"/>
                <a:cs typeface="Calibri" pitchFamily="34" charset="-120"/>
              </a:rPr>
              <a:t>Clinical and administrative staff read intake forms, discharge summaries, lab reports and physician notes by hand to pull out the same handful of facts. It is slow, inconsistent, and error-prone.</a:t>
            </a:r>
            <a:endParaRPr lang="en-US" sz="1350" dirty="0"/>
          </a:p>
        </p:txBody>
      </p:sp>
      <p:sp>
        <p:nvSpPr>
          <p:cNvPr id="5" name="Text 3"/>
          <p:cNvSpPr/>
          <p:nvPr/>
        </p:nvSpPr>
        <p:spPr>
          <a:xfrm>
            <a:off x="640080" y="2926080"/>
            <a:ext cx="6858000" cy="1371600"/>
          </a:xfrm>
          <a:prstGeom prst="rect">
            <a:avLst/>
          </a:prstGeom>
          <a:noFill/>
          <a:ln/>
        </p:spPr>
        <p:txBody>
          <a:bodyPr wrap="square" lIns="0" tIns="0" rIns="0" bIns="0" rtlCol="0" anchor="ctr"/>
          <a:lstStyle/>
          <a:p>
            <a:pPr indent="0" marL="0">
              <a:lnSpc>
                <a:spcPts val="2000"/>
              </a:lnSpc>
              <a:buNone/>
            </a:pPr>
            <a:r>
              <a:rPr lang="en-US" sz="1350" b="1" dirty="0">
                <a:solidFill>
                  <a:srgbClr val="FFFFFF"/>
                </a:solidFill>
                <a:latin typeface="Calibri" pitchFamily="34" charset="0"/>
                <a:ea typeface="Calibri" pitchFamily="34" charset="-122"/>
                <a:cs typeface="Calibri" pitchFamily="34" charset="-120"/>
              </a:rPr>
              <a:t>Where I think the real problem sits.  </a:t>
            </a:r>
            <a:pPr indent="0" marL="0">
              <a:lnSpc>
                <a:spcPts val="2000"/>
              </a:lnSpc>
              <a:buNone/>
            </a:pPr>
            <a:r>
              <a:rPr lang="en-US" sz="1350" dirty="0">
                <a:solidFill>
                  <a:srgbClr val="D6E4E8"/>
                </a:solidFill>
                <a:latin typeface="Calibri" pitchFamily="34" charset="0"/>
                <a:ea typeface="Calibri" pitchFamily="34" charset="-122"/>
                <a:cs typeface="Calibri" pitchFamily="34" charset="-120"/>
              </a:rPr>
              <a:t>Extraction accuracy is not the hard part. Trust is. A structured field with no provenance still forces the reviewer to re-read the document to check it — which is exactly the manual work we claimed to remove. And a field that is confidently wrong is worse than one that is missing.</a:t>
            </a:r>
            <a:endParaRPr lang="en-US" sz="1350" dirty="0"/>
          </a:p>
        </p:txBody>
      </p:sp>
      <p:sp>
        <p:nvSpPr>
          <p:cNvPr id="6" name="Text 4"/>
          <p:cNvSpPr/>
          <p:nvPr/>
        </p:nvSpPr>
        <p:spPr>
          <a:xfrm>
            <a:off x="640080" y="4434840"/>
            <a:ext cx="6858000" cy="1188720"/>
          </a:xfrm>
          <a:prstGeom prst="rect">
            <a:avLst/>
          </a:prstGeom>
          <a:noFill/>
          <a:ln/>
        </p:spPr>
        <p:txBody>
          <a:bodyPr wrap="square" lIns="0" tIns="0" rIns="0" bIns="0" rtlCol="0" anchor="ctr"/>
          <a:lstStyle/>
          <a:p>
            <a:pPr indent="0" marL="0">
              <a:lnSpc>
                <a:spcPts val="2000"/>
              </a:lnSpc>
              <a:buNone/>
            </a:pPr>
            <a:r>
              <a:rPr lang="en-US" sz="1350" b="1" dirty="0">
                <a:solidFill>
                  <a:srgbClr val="FFFFFF"/>
                </a:solidFill>
                <a:latin typeface="Calibri" pitchFamily="34" charset="0"/>
                <a:ea typeface="Calibri" pitchFamily="34" charset="-122"/>
                <a:cs typeface="Calibri" pitchFamily="34" charset="-120"/>
              </a:rPr>
              <a:t>Objective.  </a:t>
            </a:r>
            <a:pPr indent="0" marL="0">
              <a:lnSpc>
                <a:spcPts val="2000"/>
              </a:lnSpc>
              <a:buNone/>
            </a:pPr>
            <a:r>
              <a:rPr lang="en-US" sz="1350" dirty="0">
                <a:solidFill>
                  <a:srgbClr val="D6E4E8"/>
                </a:solidFill>
                <a:latin typeface="Calibri" pitchFamily="34" charset="0"/>
                <a:ea typeface="Calibri" pitchFamily="34" charset="-122"/>
                <a:cs typeface="Calibri" pitchFamily="34" charset="-120"/>
              </a:rPr>
              <a:t>Document → verified structured record → triaged action. Every field carries a confidence and the source span it came from. Anything that cannot be verified is withheld and routed to a human, never displayed as though it were checked.</a:t>
            </a:r>
            <a:endParaRPr lang="en-US" sz="1350" dirty="0"/>
          </a:p>
        </p:txBody>
      </p:sp>
      <p:sp>
        <p:nvSpPr>
          <p:cNvPr id="7" name="Shape 5"/>
          <p:cNvSpPr/>
          <p:nvPr/>
        </p:nvSpPr>
        <p:spPr>
          <a:xfrm>
            <a:off x="8275320" y="1965960"/>
            <a:ext cx="3246120" cy="877824"/>
          </a:xfrm>
          <a:prstGeom prst="roundRect">
            <a:avLst>
              <a:gd name="adj" fmla="val 8333"/>
            </a:avLst>
          </a:prstGeom>
          <a:solidFill>
            <a:srgbClr val="10495A"/>
          </a:solidFill>
          <a:ln w="12700">
            <a:solidFill>
              <a:srgbClr val="10495A"/>
            </a:solidFill>
            <a:prstDash val="solid"/>
          </a:ln>
        </p:spPr>
      </p:sp>
      <p:sp>
        <p:nvSpPr>
          <p:cNvPr id="8" name="Text 6"/>
          <p:cNvSpPr/>
          <p:nvPr/>
        </p:nvSpPr>
        <p:spPr>
          <a:xfrm>
            <a:off x="8458200" y="2020824"/>
            <a:ext cx="914400" cy="768096"/>
          </a:xfrm>
          <a:prstGeom prst="rect">
            <a:avLst/>
          </a:prstGeom>
          <a:noFill/>
          <a:ln/>
        </p:spPr>
        <p:txBody>
          <a:bodyPr wrap="square" lIns="0" tIns="0" rIns="0" bIns="0" rtlCol="0" anchor="ctr"/>
          <a:lstStyle/>
          <a:p>
            <a:pPr algn="ctr" indent="0" marL="0">
              <a:buNone/>
            </a:pPr>
            <a:r>
              <a:rPr lang="en-US" sz="3200" b="1" dirty="0">
                <a:solidFill>
                  <a:srgbClr val="6FD3C4"/>
                </a:solidFill>
                <a:latin typeface="Cambria" pitchFamily="34" charset="0"/>
                <a:ea typeface="Cambria" pitchFamily="34" charset="-122"/>
                <a:cs typeface="Cambria" pitchFamily="34" charset="-120"/>
              </a:rPr>
              <a:t>18</a:t>
            </a:r>
            <a:endParaRPr lang="en-US" sz="3200" dirty="0"/>
          </a:p>
        </p:txBody>
      </p:sp>
      <p:sp>
        <p:nvSpPr>
          <p:cNvPr id="9" name="Text 7"/>
          <p:cNvSpPr/>
          <p:nvPr/>
        </p:nvSpPr>
        <p:spPr>
          <a:xfrm>
            <a:off x="9372600" y="2057400"/>
            <a:ext cx="2011680" cy="694944"/>
          </a:xfrm>
          <a:prstGeom prst="rect">
            <a:avLst/>
          </a:prstGeom>
          <a:noFill/>
          <a:ln/>
        </p:spPr>
        <p:txBody>
          <a:bodyPr wrap="square" lIns="0" tIns="0" rIns="0" bIns="0" rtlCol="0" anchor="ctr"/>
          <a:lstStyle/>
          <a:p>
            <a:pPr indent="0" marL="0">
              <a:lnSpc>
                <a:spcPts val="1400"/>
              </a:lnSpc>
              <a:buNone/>
            </a:pPr>
            <a:r>
              <a:rPr lang="en-US" sz="1100" dirty="0">
                <a:solidFill>
                  <a:srgbClr val="C9DDE2"/>
                </a:solidFill>
                <a:latin typeface="Calibri" pitchFamily="34" charset="0"/>
                <a:ea typeface="Calibri" pitchFamily="34" charset="-122"/>
                <a:cs typeface="Calibri" pitchFamily="34" charset="-120"/>
              </a:rPr>
              <a:t>fields extracted</a:t>
            </a:r>
            <a:endParaRPr lang="en-US" sz="1100" dirty="0"/>
          </a:p>
          <a:p>
            <a:pPr indent="0" marL="0">
              <a:lnSpc>
                <a:spcPts val="1400"/>
              </a:lnSpc>
              <a:buNone/>
            </a:pPr>
            <a:r>
              <a:rPr lang="en-US" sz="1100" dirty="0">
                <a:solidFill>
                  <a:srgbClr val="C9DDE2"/>
                </a:solidFill>
                <a:latin typeface="Calibri" pitchFamily="34" charset="0"/>
                <a:ea typeface="Calibri" pitchFamily="34" charset="-122"/>
                <a:cs typeface="Calibri" pitchFamily="34" charset="-120"/>
              </a:rPr>
              <a:t>per document</a:t>
            </a:r>
            <a:endParaRPr lang="en-US" sz="1100" dirty="0"/>
          </a:p>
        </p:txBody>
      </p:sp>
      <p:sp>
        <p:nvSpPr>
          <p:cNvPr id="10" name="Shape 8"/>
          <p:cNvSpPr/>
          <p:nvPr/>
        </p:nvSpPr>
        <p:spPr>
          <a:xfrm>
            <a:off x="8275320" y="2990088"/>
            <a:ext cx="3246120" cy="877824"/>
          </a:xfrm>
          <a:prstGeom prst="roundRect">
            <a:avLst>
              <a:gd name="adj" fmla="val 8333"/>
            </a:avLst>
          </a:prstGeom>
          <a:solidFill>
            <a:srgbClr val="10495A"/>
          </a:solidFill>
          <a:ln w="12700">
            <a:solidFill>
              <a:srgbClr val="10495A"/>
            </a:solidFill>
            <a:prstDash val="solid"/>
          </a:ln>
        </p:spPr>
      </p:sp>
      <p:sp>
        <p:nvSpPr>
          <p:cNvPr id="11" name="Text 9"/>
          <p:cNvSpPr/>
          <p:nvPr/>
        </p:nvSpPr>
        <p:spPr>
          <a:xfrm>
            <a:off x="8458200" y="3044952"/>
            <a:ext cx="914400" cy="768096"/>
          </a:xfrm>
          <a:prstGeom prst="rect">
            <a:avLst/>
          </a:prstGeom>
          <a:noFill/>
          <a:ln/>
        </p:spPr>
        <p:txBody>
          <a:bodyPr wrap="square" lIns="0" tIns="0" rIns="0" bIns="0" rtlCol="0" anchor="ctr"/>
          <a:lstStyle/>
          <a:p>
            <a:pPr algn="ctr" indent="0" marL="0">
              <a:buNone/>
            </a:pPr>
            <a:r>
              <a:rPr lang="en-US" sz="3200" b="1" dirty="0">
                <a:solidFill>
                  <a:srgbClr val="6FD3C4"/>
                </a:solidFill>
                <a:latin typeface="Cambria" pitchFamily="34" charset="0"/>
                <a:ea typeface="Cambria" pitchFamily="34" charset="-122"/>
                <a:cs typeface="Cambria" pitchFamily="34" charset="-120"/>
              </a:rPr>
              <a:t>4</a:t>
            </a:r>
            <a:endParaRPr lang="en-US" sz="3200" dirty="0"/>
          </a:p>
        </p:txBody>
      </p:sp>
      <p:sp>
        <p:nvSpPr>
          <p:cNvPr id="12" name="Text 10"/>
          <p:cNvSpPr/>
          <p:nvPr/>
        </p:nvSpPr>
        <p:spPr>
          <a:xfrm>
            <a:off x="9372600" y="3081528"/>
            <a:ext cx="2011680" cy="694944"/>
          </a:xfrm>
          <a:prstGeom prst="rect">
            <a:avLst/>
          </a:prstGeom>
          <a:noFill/>
          <a:ln/>
        </p:spPr>
        <p:txBody>
          <a:bodyPr wrap="square" lIns="0" tIns="0" rIns="0" bIns="0" rtlCol="0" anchor="ctr"/>
          <a:lstStyle/>
          <a:p>
            <a:pPr indent="0" marL="0">
              <a:lnSpc>
                <a:spcPts val="1400"/>
              </a:lnSpc>
              <a:buNone/>
            </a:pPr>
            <a:r>
              <a:rPr lang="en-US" sz="1100" dirty="0">
                <a:solidFill>
                  <a:srgbClr val="C9DDE2"/>
                </a:solidFill>
                <a:latin typeface="Calibri" pitchFamily="34" charset="0"/>
                <a:ea typeface="Calibri" pitchFamily="34" charset="-122"/>
                <a:cs typeface="Calibri" pitchFamily="34" charset="-120"/>
              </a:rPr>
              <a:t>document types</a:t>
            </a:r>
            <a:endParaRPr lang="en-US" sz="1100" dirty="0"/>
          </a:p>
          <a:p>
            <a:pPr indent="0" marL="0">
              <a:lnSpc>
                <a:spcPts val="1400"/>
              </a:lnSpc>
              <a:buNone/>
            </a:pPr>
            <a:r>
              <a:rPr lang="en-US" sz="1100" dirty="0">
                <a:solidFill>
                  <a:srgbClr val="C9DDE2"/>
                </a:solidFill>
                <a:latin typeface="Calibri" pitchFamily="34" charset="0"/>
                <a:ea typeface="Calibri" pitchFamily="34" charset="-122"/>
                <a:cs typeface="Calibri" pitchFamily="34" charset="-120"/>
              </a:rPr>
              <a:t>supported</a:t>
            </a:r>
            <a:endParaRPr lang="en-US" sz="1100" dirty="0"/>
          </a:p>
        </p:txBody>
      </p:sp>
      <p:sp>
        <p:nvSpPr>
          <p:cNvPr id="13" name="Shape 11"/>
          <p:cNvSpPr/>
          <p:nvPr/>
        </p:nvSpPr>
        <p:spPr>
          <a:xfrm>
            <a:off x="8275320" y="4014216"/>
            <a:ext cx="3246120" cy="877824"/>
          </a:xfrm>
          <a:prstGeom prst="roundRect">
            <a:avLst>
              <a:gd name="adj" fmla="val 8333"/>
            </a:avLst>
          </a:prstGeom>
          <a:solidFill>
            <a:srgbClr val="10495A"/>
          </a:solidFill>
          <a:ln w="12700">
            <a:solidFill>
              <a:srgbClr val="10495A"/>
            </a:solidFill>
            <a:prstDash val="solid"/>
          </a:ln>
        </p:spPr>
      </p:sp>
      <p:sp>
        <p:nvSpPr>
          <p:cNvPr id="14" name="Text 12"/>
          <p:cNvSpPr/>
          <p:nvPr/>
        </p:nvSpPr>
        <p:spPr>
          <a:xfrm>
            <a:off x="8458200" y="4069080"/>
            <a:ext cx="914400" cy="768096"/>
          </a:xfrm>
          <a:prstGeom prst="rect">
            <a:avLst/>
          </a:prstGeom>
          <a:noFill/>
          <a:ln/>
        </p:spPr>
        <p:txBody>
          <a:bodyPr wrap="square" lIns="0" tIns="0" rIns="0" bIns="0" rtlCol="0" anchor="ctr"/>
          <a:lstStyle/>
          <a:p>
            <a:pPr algn="ctr" indent="0" marL="0">
              <a:buNone/>
            </a:pPr>
            <a:r>
              <a:rPr lang="en-US" sz="3200" b="1" dirty="0">
                <a:solidFill>
                  <a:srgbClr val="6FD3C4"/>
                </a:solidFill>
                <a:latin typeface="Cambria" pitchFamily="34" charset="0"/>
                <a:ea typeface="Cambria" pitchFamily="34" charset="-122"/>
                <a:cs typeface="Cambria" pitchFamily="34" charset="-120"/>
              </a:rPr>
              <a:t>32</a:t>
            </a:r>
            <a:endParaRPr lang="en-US" sz="3200" dirty="0"/>
          </a:p>
        </p:txBody>
      </p:sp>
      <p:sp>
        <p:nvSpPr>
          <p:cNvPr id="15" name="Text 13"/>
          <p:cNvSpPr/>
          <p:nvPr/>
        </p:nvSpPr>
        <p:spPr>
          <a:xfrm>
            <a:off x="9372600" y="4105656"/>
            <a:ext cx="2011680" cy="694944"/>
          </a:xfrm>
          <a:prstGeom prst="rect">
            <a:avLst/>
          </a:prstGeom>
          <a:noFill/>
          <a:ln/>
        </p:spPr>
        <p:txBody>
          <a:bodyPr wrap="square" lIns="0" tIns="0" rIns="0" bIns="0" rtlCol="0" anchor="ctr"/>
          <a:lstStyle/>
          <a:p>
            <a:pPr indent="0" marL="0">
              <a:lnSpc>
                <a:spcPts val="1400"/>
              </a:lnSpc>
              <a:buNone/>
            </a:pPr>
            <a:r>
              <a:rPr lang="en-US" sz="1100" dirty="0">
                <a:solidFill>
                  <a:srgbClr val="C9DDE2"/>
                </a:solidFill>
                <a:latin typeface="Calibri" pitchFamily="34" charset="0"/>
                <a:ea typeface="Calibri" pitchFamily="34" charset="-122"/>
                <a:cs typeface="Calibri" pitchFamily="34" charset="-120"/>
              </a:rPr>
              <a:t>document corpus,</a:t>
            </a:r>
            <a:endParaRPr lang="en-US" sz="1100" dirty="0"/>
          </a:p>
          <a:p>
            <a:pPr indent="0" marL="0">
              <a:lnSpc>
                <a:spcPts val="1400"/>
              </a:lnSpc>
              <a:buNone/>
            </a:pPr>
            <a:r>
              <a:rPr lang="en-US" sz="1100" dirty="0">
                <a:solidFill>
                  <a:srgbClr val="C9DDE2"/>
                </a:solidFill>
                <a:latin typeface="Calibri" pitchFamily="34" charset="0"/>
                <a:ea typeface="Calibri" pitchFamily="34" charset="-122"/>
                <a:cs typeface="Calibri" pitchFamily="34" charset="-120"/>
              </a:rPr>
              <a:t>exact gold labels</a:t>
            </a:r>
            <a:endParaRPr lang="en-US" sz="1100" dirty="0"/>
          </a:p>
        </p:txBody>
      </p:sp>
      <p:sp>
        <p:nvSpPr>
          <p:cNvPr id="16" name="Shape 14"/>
          <p:cNvSpPr/>
          <p:nvPr/>
        </p:nvSpPr>
        <p:spPr>
          <a:xfrm>
            <a:off x="8275320" y="5038344"/>
            <a:ext cx="3246120" cy="877824"/>
          </a:xfrm>
          <a:prstGeom prst="roundRect">
            <a:avLst>
              <a:gd name="adj" fmla="val 8333"/>
            </a:avLst>
          </a:prstGeom>
          <a:solidFill>
            <a:srgbClr val="10495A"/>
          </a:solidFill>
          <a:ln w="12700">
            <a:solidFill>
              <a:srgbClr val="10495A"/>
            </a:solidFill>
            <a:prstDash val="solid"/>
          </a:ln>
        </p:spPr>
      </p:sp>
      <p:sp>
        <p:nvSpPr>
          <p:cNvPr id="17" name="Text 15"/>
          <p:cNvSpPr/>
          <p:nvPr/>
        </p:nvSpPr>
        <p:spPr>
          <a:xfrm>
            <a:off x="8458200" y="5093208"/>
            <a:ext cx="914400" cy="768096"/>
          </a:xfrm>
          <a:prstGeom prst="rect">
            <a:avLst/>
          </a:prstGeom>
          <a:noFill/>
          <a:ln/>
        </p:spPr>
        <p:txBody>
          <a:bodyPr wrap="square" lIns="0" tIns="0" rIns="0" bIns="0" rtlCol="0" anchor="ctr"/>
          <a:lstStyle/>
          <a:p>
            <a:pPr algn="ctr" indent="0" marL="0">
              <a:buNone/>
            </a:pPr>
            <a:r>
              <a:rPr lang="en-US" sz="3200" b="1" dirty="0">
                <a:solidFill>
                  <a:srgbClr val="C26401"/>
                </a:solidFill>
                <a:latin typeface="Cambria" pitchFamily="34" charset="0"/>
                <a:ea typeface="Cambria" pitchFamily="34" charset="-122"/>
                <a:cs typeface="Cambria" pitchFamily="34" charset="-120"/>
              </a:rPr>
              <a:t>21</a:t>
            </a:r>
            <a:endParaRPr lang="en-US" sz="3200" dirty="0"/>
          </a:p>
        </p:txBody>
      </p:sp>
      <p:sp>
        <p:nvSpPr>
          <p:cNvPr id="18" name="Text 16"/>
          <p:cNvSpPr/>
          <p:nvPr/>
        </p:nvSpPr>
        <p:spPr>
          <a:xfrm>
            <a:off x="9372600" y="5129784"/>
            <a:ext cx="2011680" cy="694944"/>
          </a:xfrm>
          <a:prstGeom prst="rect">
            <a:avLst/>
          </a:prstGeom>
          <a:noFill/>
          <a:ln/>
        </p:spPr>
        <p:txBody>
          <a:bodyPr wrap="square" lIns="0" tIns="0" rIns="0" bIns="0" rtlCol="0" anchor="ctr"/>
          <a:lstStyle/>
          <a:p>
            <a:pPr indent="0" marL="0">
              <a:lnSpc>
                <a:spcPts val="1400"/>
              </a:lnSpc>
              <a:buNone/>
            </a:pPr>
            <a:r>
              <a:rPr lang="en-US" sz="1100" dirty="0">
                <a:solidFill>
                  <a:srgbClr val="C9DDE2"/>
                </a:solidFill>
                <a:latin typeface="Calibri" pitchFamily="34" charset="0"/>
                <a:ea typeface="Calibri" pitchFamily="34" charset="-122"/>
                <a:cs typeface="Calibri" pitchFamily="34" charset="-120"/>
              </a:rPr>
              <a:t>clinical rules,</a:t>
            </a:r>
            <a:endParaRPr lang="en-US" sz="1100" dirty="0"/>
          </a:p>
          <a:p>
            <a:pPr indent="0" marL="0">
              <a:lnSpc>
                <a:spcPts val="1400"/>
              </a:lnSpc>
              <a:buNone/>
            </a:pPr>
            <a:r>
              <a:rPr lang="en-US" sz="1100" dirty="0">
                <a:solidFill>
                  <a:srgbClr val="C9DDE2"/>
                </a:solidFill>
                <a:latin typeface="Calibri" pitchFamily="34" charset="0"/>
                <a:ea typeface="Calibri" pitchFamily="34" charset="-122"/>
                <a:cs typeface="Calibri" pitchFamily="34" charset="-120"/>
              </a:rPr>
              <a:t>every flag traceable</a:t>
            </a:r>
            <a:endParaRPr lang="en-US" sz="1100" dirty="0"/>
          </a:p>
        </p:txBody>
      </p:sp>
      <p:sp>
        <p:nvSpPr>
          <p:cNvPr id="19" name="Text 17"/>
          <p:cNvSpPr/>
          <p:nvPr/>
        </p:nvSpPr>
        <p:spPr>
          <a:xfrm>
            <a:off x="640080" y="6089904"/>
            <a:ext cx="7315200" cy="310896"/>
          </a:xfrm>
          <a:prstGeom prst="rect">
            <a:avLst/>
          </a:prstGeom>
          <a:noFill/>
          <a:ln/>
        </p:spPr>
        <p:txBody>
          <a:bodyPr wrap="square" lIns="0" tIns="0" rIns="0" bIns="0" rtlCol="0" anchor="ctr"/>
          <a:lstStyle/>
          <a:p>
            <a:pPr indent="0" marL="0">
              <a:buNone/>
            </a:pPr>
            <a:r>
              <a:rPr lang="en-US" sz="1150" dirty="0">
                <a:solidFill>
                  <a:srgbClr val="7FA6B0"/>
                </a:solidFill>
                <a:latin typeface="Calibri" pitchFamily="34" charset="0"/>
                <a:ea typeface="Calibri" pitchFamily="34" charset="-122"/>
                <a:cs typeface="Calibri" pitchFamily="34" charset="-120"/>
              </a:rPr>
              <a:t>Firstsource Proof of Concept submission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10896"/>
            <a:ext cx="11155680" cy="566928"/>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Solution Architecture and Design Flow</a:t>
            </a:r>
            <a:endParaRPr lang="en-US" sz="3000" dirty="0"/>
          </a:p>
        </p:txBody>
      </p:sp>
      <p:sp>
        <p:nvSpPr>
          <p:cNvPr id="3" name="Text 1"/>
          <p:cNvSpPr/>
          <p:nvPr/>
        </p:nvSpPr>
        <p:spPr>
          <a:xfrm>
            <a:off x="502920" y="905256"/>
            <a:ext cx="11155680" cy="310896"/>
          </a:xfrm>
          <a:prstGeom prst="rect">
            <a:avLst/>
          </a:prstGeom>
          <a:noFill/>
          <a:ln/>
        </p:spPr>
        <p:txBody>
          <a:bodyPr wrap="square" lIns="0" tIns="0" rIns="0" bIns="0" rtlCol="0" anchor="ctr"/>
          <a:lstStyle/>
          <a:p>
            <a:pPr indent="0" marL="0">
              <a:buNone/>
            </a:pPr>
            <a:r>
              <a:rPr lang="en-US" sz="1350" i="1" dirty="0">
                <a:solidFill>
                  <a:srgbClr val="5B6B7C"/>
                </a:solidFill>
                <a:latin typeface="Calibri" pitchFamily="34" charset="0"/>
                <a:ea typeface="Calibri" pitchFamily="34" charset="-122"/>
                <a:cs typeface="Calibri" pitchFamily="34" charset="-120"/>
              </a:rPr>
              <a:t>The LLM extracts. Verification gates. Rules decide. Each stage does only what it is actually reliable at.</a:t>
            </a:r>
            <a:endParaRPr lang="en-US" sz="1350" dirty="0"/>
          </a:p>
        </p:txBody>
      </p:sp>
      <p:pic>
        <p:nvPicPr>
          <p:cNvPr id="4" name="Image 0" descr="/sessions/magical-exciting-hypatia/mnt/Firstsource-Proof of Concept (POC) Assignment/clinical-doc-intelligence/assets/architecture_bare.png">    </p:cNvPr>
          <p:cNvPicPr>
            <a:picLocks noChangeAspect="1"/>
          </p:cNvPicPr>
          <p:nvPr/>
        </p:nvPicPr>
        <p:blipFill>
          <a:blip r:embed="rId1"/>
          <a:stretch>
            <a:fillRect/>
          </a:stretch>
        </p:blipFill>
        <p:spPr>
          <a:xfrm>
            <a:off x="658368" y="1371600"/>
            <a:ext cx="10844784" cy="5202936"/>
          </a:xfrm>
          <a:prstGeom prst="rect">
            <a:avLst/>
          </a:prstGeom>
        </p:spPr>
      </p:pic>
      <p:sp>
        <p:nvSpPr>
          <p:cNvPr id="5" name="Text 2"/>
          <p:cNvSpPr/>
          <p:nvPr/>
        </p:nvSpPr>
        <p:spPr>
          <a:xfrm>
            <a:off x="822960" y="6446520"/>
            <a:ext cx="3474720" cy="310896"/>
          </a:xfrm>
          <a:prstGeom prst="rect">
            <a:avLst/>
          </a:prstGeom>
          <a:noFill/>
          <a:ln/>
        </p:spPr>
        <p:txBody>
          <a:bodyPr wrap="square" lIns="0" tIns="0" rIns="0" bIns="0" rtlCol="0" anchor="ctr"/>
          <a:lstStyle/>
          <a:p>
            <a:pPr algn="ctr" indent="0" marL="0">
              <a:buNone/>
            </a:pPr>
            <a:r>
              <a:rPr lang="en-US" sz="1200" b="1" dirty="0">
                <a:solidFill>
                  <a:srgbClr val="12786E"/>
                </a:solidFill>
                <a:latin typeface="Calibri" pitchFamily="34" charset="0"/>
                <a:ea typeface="Calibri" pitchFamily="34" charset="-122"/>
                <a:cs typeface="Calibri" pitchFamily="34" charset="-120"/>
              </a:rPr>
              <a:t>LLM   </a:t>
            </a:r>
            <a:pPr algn="ctr" indent="0" marL="0">
              <a:buNone/>
            </a:pPr>
            <a:r>
              <a:rPr lang="en-US" sz="1100" dirty="0">
                <a:solidFill>
                  <a:srgbClr val="5B6B7C"/>
                </a:solidFill>
                <a:latin typeface="Calibri" pitchFamily="34" charset="0"/>
                <a:ea typeface="Calibri" pitchFamily="34" charset="-122"/>
                <a:cs typeface="Calibri" pitchFamily="34" charset="-120"/>
              </a:rPr>
              <a:t>Reading prose → fields</a:t>
            </a:r>
            <a:endParaRPr lang="en-US" sz="1200" dirty="0"/>
          </a:p>
        </p:txBody>
      </p:sp>
      <p:sp>
        <p:nvSpPr>
          <p:cNvPr id="6" name="Text 3"/>
          <p:cNvSpPr/>
          <p:nvPr/>
        </p:nvSpPr>
        <p:spPr>
          <a:xfrm>
            <a:off x="4389120" y="6446520"/>
            <a:ext cx="3474720" cy="310896"/>
          </a:xfrm>
          <a:prstGeom prst="rect">
            <a:avLst/>
          </a:prstGeom>
          <a:noFill/>
          <a:ln/>
        </p:spPr>
        <p:txBody>
          <a:bodyPr wrap="square" lIns="0" tIns="0" rIns="0" bIns="0" rtlCol="0" anchor="ctr"/>
          <a:lstStyle/>
          <a:p>
            <a:pPr algn="ctr" indent="0" marL="0">
              <a:buNone/>
            </a:pPr>
            <a:r>
              <a:rPr lang="en-US" sz="1200" b="1" dirty="0">
                <a:solidFill>
                  <a:srgbClr val="C26401"/>
                </a:solidFill>
                <a:latin typeface="Calibri" pitchFamily="34" charset="0"/>
                <a:ea typeface="Calibri" pitchFamily="34" charset="-122"/>
                <a:cs typeface="Calibri" pitchFamily="34" charset="-120"/>
              </a:rPr>
              <a:t>Verification   </a:t>
            </a:r>
            <a:pPr algn="ctr" indent="0" marL="0">
              <a:buNone/>
            </a:pPr>
            <a:r>
              <a:rPr lang="en-US" sz="1100" dirty="0">
                <a:solidFill>
                  <a:srgbClr val="5B6B7C"/>
                </a:solidFill>
                <a:latin typeface="Calibri" pitchFamily="34" charset="0"/>
                <a:ea typeface="Calibri" pitchFamily="34" charset="-122"/>
                <a:cs typeface="Calibri" pitchFamily="34" charset="-120"/>
              </a:rPr>
              <a:t>Trusting a value</a:t>
            </a:r>
            <a:endParaRPr lang="en-US" sz="1200" dirty="0"/>
          </a:p>
        </p:txBody>
      </p:sp>
      <p:sp>
        <p:nvSpPr>
          <p:cNvPr id="7" name="Text 4"/>
          <p:cNvSpPr/>
          <p:nvPr/>
        </p:nvSpPr>
        <p:spPr>
          <a:xfrm>
            <a:off x="7955280" y="6446520"/>
            <a:ext cx="3474720" cy="310896"/>
          </a:xfrm>
          <a:prstGeom prst="rect">
            <a:avLst/>
          </a:prstGeom>
          <a:noFill/>
          <a:ln/>
        </p:spPr>
        <p:txBody>
          <a:bodyPr wrap="square" lIns="0" tIns="0" rIns="0" bIns="0" rtlCol="0" anchor="ctr"/>
          <a:lstStyle/>
          <a:p>
            <a:pPr algn="ctr" indent="0" marL="0">
              <a:buNone/>
            </a:pPr>
            <a:r>
              <a:rPr lang="en-US" sz="1200" b="1" dirty="0">
                <a:solidFill>
                  <a:srgbClr val="B3261E"/>
                </a:solidFill>
                <a:latin typeface="Calibri" pitchFamily="34" charset="0"/>
                <a:ea typeface="Calibri" pitchFamily="34" charset="-122"/>
                <a:cs typeface="Calibri" pitchFamily="34" charset="-120"/>
              </a:rPr>
              <a:t>Rules   </a:t>
            </a:r>
            <a:pPr algn="ctr" indent="0" marL="0">
              <a:buNone/>
            </a:pPr>
            <a:r>
              <a:rPr lang="en-US" sz="1100" dirty="0">
                <a:solidFill>
                  <a:srgbClr val="5B6B7C"/>
                </a:solidFill>
                <a:latin typeface="Calibri" pitchFamily="34" charset="0"/>
                <a:ea typeface="Calibri" pitchFamily="34" charset="-122"/>
                <a:cs typeface="Calibri" pitchFamily="34" charset="-120"/>
              </a:rPr>
              <a:t>Escalating a patient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10896"/>
            <a:ext cx="11155680" cy="566928"/>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Implementation Highlights</a:t>
            </a:r>
            <a:endParaRPr lang="en-US" sz="3000" dirty="0"/>
          </a:p>
        </p:txBody>
      </p:sp>
      <p:sp>
        <p:nvSpPr>
          <p:cNvPr id="3" name="Text 1"/>
          <p:cNvSpPr/>
          <p:nvPr/>
        </p:nvSpPr>
        <p:spPr>
          <a:xfrm>
            <a:off x="502920" y="905256"/>
            <a:ext cx="11155680" cy="310896"/>
          </a:xfrm>
          <a:prstGeom prst="rect">
            <a:avLst/>
          </a:prstGeom>
          <a:noFill/>
          <a:ln/>
        </p:spPr>
        <p:txBody>
          <a:bodyPr wrap="square" lIns="0" tIns="0" rIns="0" bIns="0" rtlCol="0" anchor="ctr"/>
          <a:lstStyle/>
          <a:p>
            <a:pPr indent="0" marL="0">
              <a:buNone/>
            </a:pPr>
            <a:r>
              <a:rPr lang="en-US" sz="1350" i="1" dirty="0">
                <a:solidFill>
                  <a:srgbClr val="5B6B7C"/>
                </a:solidFill>
                <a:latin typeface="Calibri" pitchFamily="34" charset="0"/>
                <a:ea typeface="Calibri" pitchFamily="34" charset="-122"/>
                <a:cs typeface="Calibri" pitchFamily="34" charset="-120"/>
              </a:rPr>
              <a:t>Confidence is computed from measurable signals, never asked for — verbalised LLM confidence is poorly calibrated.</a:t>
            </a:r>
            <a:endParaRPr lang="en-US" sz="1350" dirty="0"/>
          </a:p>
        </p:txBody>
      </p:sp>
      <p:sp>
        <p:nvSpPr>
          <p:cNvPr id="4" name="Shape 2"/>
          <p:cNvSpPr/>
          <p:nvPr/>
        </p:nvSpPr>
        <p:spPr>
          <a:xfrm>
            <a:off x="502920" y="1371600"/>
            <a:ext cx="5760720" cy="2395728"/>
          </a:xfrm>
          <a:prstGeom prst="roundRect">
            <a:avLst>
              <a:gd name="adj" fmla="val 3435"/>
            </a:avLst>
          </a:prstGeom>
          <a:solidFill>
            <a:srgbClr val="E9F5F3"/>
          </a:solidFill>
          <a:ln w="12700">
            <a:solidFill>
              <a:srgbClr val="E9F5F3"/>
            </a:solidFill>
            <a:prstDash val="solid"/>
          </a:ln>
        </p:spPr>
      </p:sp>
      <p:sp>
        <p:nvSpPr>
          <p:cNvPr id="5" name="Text 3"/>
          <p:cNvSpPr/>
          <p:nvPr/>
        </p:nvSpPr>
        <p:spPr>
          <a:xfrm>
            <a:off x="777240" y="1536192"/>
            <a:ext cx="5303520" cy="274320"/>
          </a:xfrm>
          <a:prstGeom prst="rect">
            <a:avLst/>
          </a:prstGeom>
          <a:noFill/>
          <a:ln/>
        </p:spPr>
        <p:txBody>
          <a:bodyPr wrap="square" lIns="0" tIns="0" rIns="0" bIns="0" rtlCol="0" anchor="ctr"/>
          <a:lstStyle/>
          <a:p>
            <a:pPr indent="0" marL="0">
              <a:buNone/>
            </a:pPr>
            <a:r>
              <a:rPr lang="en-US" sz="1350" b="1" dirty="0">
                <a:solidFill>
                  <a:srgbClr val="0B3C49"/>
                </a:solidFill>
                <a:latin typeface="Calibri" pitchFamily="34" charset="0"/>
                <a:ea typeface="Calibri" pitchFamily="34" charset="-122"/>
                <a:cs typeface="Calibri" pitchFamily="34" charset="-120"/>
              </a:rPr>
              <a:t>Four signals behind every field</a:t>
            </a:r>
            <a:endParaRPr lang="en-US" sz="1350" dirty="0"/>
          </a:p>
        </p:txBody>
      </p:sp>
      <p:sp>
        <p:nvSpPr>
          <p:cNvPr id="6" name="Text 4"/>
          <p:cNvSpPr/>
          <p:nvPr/>
        </p:nvSpPr>
        <p:spPr>
          <a:xfrm>
            <a:off x="804672" y="1883664"/>
            <a:ext cx="274320" cy="274320"/>
          </a:xfrm>
          <a:prstGeom prst="rect">
            <a:avLst/>
          </a:prstGeom>
          <a:noFill/>
          <a:ln/>
        </p:spPr>
        <p:txBody>
          <a:bodyPr wrap="square" lIns="0" tIns="0" rIns="0" bIns="0" rtlCol="0" anchor="ctr"/>
          <a:lstStyle/>
          <a:p>
            <a:pPr indent="0" marL="0">
              <a:buNone/>
            </a:pPr>
            <a:r>
              <a:rPr lang="en-US" sz="1300" b="1" dirty="0">
                <a:solidFill>
                  <a:srgbClr val="12786E"/>
                </a:solidFill>
                <a:latin typeface="Courier New" pitchFamily="34" charset="0"/>
                <a:ea typeface="Courier New" pitchFamily="34" charset="-122"/>
                <a:cs typeface="Courier New" pitchFamily="34" charset="-120"/>
              </a:rPr>
              <a:t>g</a:t>
            </a:r>
            <a:endParaRPr lang="en-US" sz="1300" dirty="0"/>
          </a:p>
        </p:txBody>
      </p:sp>
      <p:sp>
        <p:nvSpPr>
          <p:cNvPr id="7" name="Text 5"/>
          <p:cNvSpPr/>
          <p:nvPr/>
        </p:nvSpPr>
        <p:spPr>
          <a:xfrm>
            <a:off x="1097280" y="1883664"/>
            <a:ext cx="5029200" cy="274320"/>
          </a:xfrm>
          <a:prstGeom prst="rect">
            <a:avLst/>
          </a:prstGeom>
          <a:noFill/>
          <a:ln/>
        </p:spPr>
        <p:txBody>
          <a:bodyPr wrap="square" lIns="0" tIns="0" rIns="0" bIns="0" rtlCol="0" anchor="ctr"/>
          <a:lstStyle/>
          <a:p>
            <a:pPr indent="0" marL="0">
              <a:buNone/>
            </a:pPr>
            <a:r>
              <a:rPr lang="en-US" sz="1100" b="1" dirty="0">
                <a:solidFill>
                  <a:srgbClr val="0B3C49"/>
                </a:solidFill>
                <a:latin typeface="Calibri" pitchFamily="34" charset="0"/>
                <a:ea typeface="Calibri" pitchFamily="34" charset="-122"/>
                <a:cs typeface="Calibri" pitchFamily="34" charset="-120"/>
              </a:rPr>
              <a:t>grounding — </a:t>
            </a:r>
            <a:pPr indent="0" marL="0">
              <a:buNone/>
            </a:pPr>
            <a:r>
              <a:rPr lang="en-US" sz="1100" dirty="0">
                <a:solidFill>
                  <a:srgbClr val="5B6B7C"/>
                </a:solidFill>
                <a:latin typeface="Calibri" pitchFamily="34" charset="0"/>
                <a:ea typeface="Calibri" pitchFamily="34" charset="-122"/>
                <a:cs typeface="Calibri" pitchFamily="34" charset="-120"/>
              </a:rPr>
              <a:t>is the evidence quote really in the document?</a:t>
            </a:r>
            <a:endParaRPr lang="en-US" sz="1100" dirty="0"/>
          </a:p>
        </p:txBody>
      </p:sp>
      <p:sp>
        <p:nvSpPr>
          <p:cNvPr id="8" name="Text 6"/>
          <p:cNvSpPr/>
          <p:nvPr/>
        </p:nvSpPr>
        <p:spPr>
          <a:xfrm>
            <a:off x="804672" y="2267712"/>
            <a:ext cx="274320" cy="274320"/>
          </a:xfrm>
          <a:prstGeom prst="rect">
            <a:avLst/>
          </a:prstGeom>
          <a:noFill/>
          <a:ln/>
        </p:spPr>
        <p:txBody>
          <a:bodyPr wrap="square" lIns="0" tIns="0" rIns="0" bIns="0" rtlCol="0" anchor="ctr"/>
          <a:lstStyle/>
          <a:p>
            <a:pPr indent="0" marL="0">
              <a:buNone/>
            </a:pPr>
            <a:r>
              <a:rPr lang="en-US" sz="1300" b="1" dirty="0">
                <a:solidFill>
                  <a:srgbClr val="12786E"/>
                </a:solidFill>
                <a:latin typeface="Courier New" pitchFamily="34" charset="0"/>
                <a:ea typeface="Courier New" pitchFamily="34" charset="-122"/>
                <a:cs typeface="Courier New" pitchFamily="34" charset="-120"/>
              </a:rPr>
              <a:t>d</a:t>
            </a:r>
            <a:endParaRPr lang="en-US" sz="1300" dirty="0"/>
          </a:p>
        </p:txBody>
      </p:sp>
      <p:sp>
        <p:nvSpPr>
          <p:cNvPr id="9" name="Text 7"/>
          <p:cNvSpPr/>
          <p:nvPr/>
        </p:nvSpPr>
        <p:spPr>
          <a:xfrm>
            <a:off x="1097280" y="2267712"/>
            <a:ext cx="5029200" cy="274320"/>
          </a:xfrm>
          <a:prstGeom prst="rect">
            <a:avLst/>
          </a:prstGeom>
          <a:noFill/>
          <a:ln/>
        </p:spPr>
        <p:txBody>
          <a:bodyPr wrap="square" lIns="0" tIns="0" rIns="0" bIns="0" rtlCol="0" anchor="ctr"/>
          <a:lstStyle/>
          <a:p>
            <a:pPr indent="0" marL="0">
              <a:buNone/>
            </a:pPr>
            <a:r>
              <a:rPr lang="en-US" sz="1100" b="1" dirty="0">
                <a:solidFill>
                  <a:srgbClr val="0B3C49"/>
                </a:solidFill>
                <a:latin typeface="Calibri" pitchFamily="34" charset="0"/>
                <a:ea typeface="Calibri" pitchFamily="34" charset="-122"/>
                <a:cs typeface="Calibri" pitchFamily="34" charset="-120"/>
              </a:rPr>
              <a:t>presence — </a:t>
            </a:r>
            <a:pPr indent="0" marL="0">
              <a:buNone/>
            </a:pPr>
            <a:r>
              <a:rPr lang="en-US" sz="1100" dirty="0">
                <a:solidFill>
                  <a:srgbClr val="5B6B7C"/>
                </a:solidFill>
                <a:latin typeface="Calibri" pitchFamily="34" charset="0"/>
                <a:ea typeface="Calibri" pitchFamily="34" charset="-122"/>
                <a:cs typeface="Calibri" pitchFamily="34" charset="-120"/>
              </a:rPr>
              <a:t>is the value in the document, independent of its quote?</a:t>
            </a:r>
            <a:endParaRPr lang="en-US" sz="1100" dirty="0"/>
          </a:p>
        </p:txBody>
      </p:sp>
      <p:sp>
        <p:nvSpPr>
          <p:cNvPr id="10" name="Text 8"/>
          <p:cNvSpPr/>
          <p:nvPr/>
        </p:nvSpPr>
        <p:spPr>
          <a:xfrm>
            <a:off x="804672" y="2651760"/>
            <a:ext cx="274320" cy="274320"/>
          </a:xfrm>
          <a:prstGeom prst="rect">
            <a:avLst/>
          </a:prstGeom>
          <a:noFill/>
          <a:ln/>
        </p:spPr>
        <p:txBody>
          <a:bodyPr wrap="square" lIns="0" tIns="0" rIns="0" bIns="0" rtlCol="0" anchor="ctr"/>
          <a:lstStyle/>
          <a:p>
            <a:pPr indent="0" marL="0">
              <a:buNone/>
            </a:pPr>
            <a:r>
              <a:rPr lang="en-US" sz="1300" b="1" dirty="0">
                <a:solidFill>
                  <a:srgbClr val="12786E"/>
                </a:solidFill>
                <a:latin typeface="Courier New" pitchFamily="34" charset="0"/>
                <a:ea typeface="Courier New" pitchFamily="34" charset="-122"/>
                <a:cs typeface="Courier New" pitchFamily="34" charset="-120"/>
              </a:rPr>
              <a:t>v</a:t>
            </a:r>
            <a:endParaRPr lang="en-US" sz="1300" dirty="0"/>
          </a:p>
        </p:txBody>
      </p:sp>
      <p:sp>
        <p:nvSpPr>
          <p:cNvPr id="11" name="Text 9"/>
          <p:cNvSpPr/>
          <p:nvPr/>
        </p:nvSpPr>
        <p:spPr>
          <a:xfrm>
            <a:off x="1097280" y="2651760"/>
            <a:ext cx="5029200" cy="274320"/>
          </a:xfrm>
          <a:prstGeom prst="rect">
            <a:avLst/>
          </a:prstGeom>
          <a:noFill/>
          <a:ln/>
        </p:spPr>
        <p:txBody>
          <a:bodyPr wrap="square" lIns="0" tIns="0" rIns="0" bIns="0" rtlCol="0" anchor="ctr"/>
          <a:lstStyle/>
          <a:p>
            <a:pPr indent="0" marL="0">
              <a:buNone/>
            </a:pPr>
            <a:r>
              <a:rPr lang="en-US" sz="1100" b="1" dirty="0">
                <a:solidFill>
                  <a:srgbClr val="0B3C49"/>
                </a:solidFill>
                <a:latin typeface="Calibri" pitchFamily="34" charset="0"/>
                <a:ea typeface="Calibri" pitchFamily="34" charset="-122"/>
                <a:cs typeface="Calibri" pitchFamily="34" charset="-120"/>
              </a:rPr>
              <a:t>support — </a:t>
            </a:r>
            <a:pPr indent="0" marL="0">
              <a:buNone/>
            </a:pPr>
            <a:r>
              <a:rPr lang="en-US" sz="1100" dirty="0">
                <a:solidFill>
                  <a:srgbClr val="5B6B7C"/>
                </a:solidFill>
                <a:latin typeface="Calibri" pitchFamily="34" charset="0"/>
                <a:ea typeface="Calibri" pitchFamily="34" charset="-122"/>
                <a:cs typeface="Calibri" pitchFamily="34" charset="-120"/>
              </a:rPr>
              <a:t>is the value inside the quote it cites?</a:t>
            </a:r>
            <a:endParaRPr lang="en-US" sz="1100" dirty="0"/>
          </a:p>
        </p:txBody>
      </p:sp>
      <p:sp>
        <p:nvSpPr>
          <p:cNvPr id="12" name="Text 10"/>
          <p:cNvSpPr/>
          <p:nvPr/>
        </p:nvSpPr>
        <p:spPr>
          <a:xfrm>
            <a:off x="804672" y="3035808"/>
            <a:ext cx="274320" cy="274320"/>
          </a:xfrm>
          <a:prstGeom prst="rect">
            <a:avLst/>
          </a:prstGeom>
          <a:noFill/>
          <a:ln/>
        </p:spPr>
        <p:txBody>
          <a:bodyPr wrap="square" lIns="0" tIns="0" rIns="0" bIns="0" rtlCol="0" anchor="ctr"/>
          <a:lstStyle/>
          <a:p>
            <a:pPr indent="0" marL="0">
              <a:buNone/>
            </a:pPr>
            <a:r>
              <a:rPr lang="en-US" sz="1300" b="1" dirty="0">
                <a:solidFill>
                  <a:srgbClr val="12786E"/>
                </a:solidFill>
                <a:latin typeface="Courier New" pitchFamily="34" charset="0"/>
                <a:ea typeface="Courier New" pitchFamily="34" charset="-122"/>
                <a:cs typeface="Courier New" pitchFamily="34" charset="-120"/>
              </a:rPr>
              <a:t>a</a:t>
            </a:r>
            <a:endParaRPr lang="en-US" sz="1300" dirty="0"/>
          </a:p>
        </p:txBody>
      </p:sp>
      <p:sp>
        <p:nvSpPr>
          <p:cNvPr id="13" name="Text 11"/>
          <p:cNvSpPr/>
          <p:nvPr/>
        </p:nvSpPr>
        <p:spPr>
          <a:xfrm>
            <a:off x="1097280" y="3035808"/>
            <a:ext cx="5029200" cy="274320"/>
          </a:xfrm>
          <a:prstGeom prst="rect">
            <a:avLst/>
          </a:prstGeom>
          <a:noFill/>
          <a:ln/>
        </p:spPr>
        <p:txBody>
          <a:bodyPr wrap="square" lIns="0" tIns="0" rIns="0" bIns="0" rtlCol="0" anchor="ctr"/>
          <a:lstStyle/>
          <a:p>
            <a:pPr indent="0" marL="0">
              <a:buNone/>
            </a:pPr>
            <a:r>
              <a:rPr lang="en-US" sz="1100" b="1" dirty="0">
                <a:solidFill>
                  <a:srgbClr val="0B3C49"/>
                </a:solidFill>
                <a:latin typeface="Calibri" pitchFamily="34" charset="0"/>
                <a:ea typeface="Calibri" pitchFamily="34" charset="-122"/>
                <a:cs typeface="Calibri" pitchFamily="34" charset="-120"/>
              </a:rPr>
              <a:t>agreement — </a:t>
            </a:r>
            <a:pPr indent="0" marL="0">
              <a:buNone/>
            </a:pPr>
            <a:r>
              <a:rPr lang="en-US" sz="1100" dirty="0">
                <a:solidFill>
                  <a:srgbClr val="5B6B7C"/>
                </a:solidFill>
                <a:latin typeface="Calibri" pitchFamily="34" charset="0"/>
                <a:ea typeface="Calibri" pitchFamily="34" charset="-122"/>
                <a:cs typeface="Calibri" pitchFamily="34" charset="-120"/>
              </a:rPr>
              <a:t>do k independent samples return the same value?</a:t>
            </a:r>
            <a:endParaRPr lang="en-US" sz="1100" dirty="0"/>
          </a:p>
        </p:txBody>
      </p:sp>
      <p:sp>
        <p:nvSpPr>
          <p:cNvPr id="14" name="Text 12"/>
          <p:cNvSpPr/>
          <p:nvPr/>
        </p:nvSpPr>
        <p:spPr>
          <a:xfrm>
            <a:off x="804672" y="3456432"/>
            <a:ext cx="5303520" cy="256032"/>
          </a:xfrm>
          <a:prstGeom prst="rect">
            <a:avLst/>
          </a:prstGeom>
          <a:noFill/>
          <a:ln/>
        </p:spPr>
        <p:txBody>
          <a:bodyPr wrap="square" lIns="0" tIns="0" rIns="0" bIns="0" rtlCol="0" anchor="ctr"/>
          <a:lstStyle/>
          <a:p>
            <a:pPr indent="0" marL="0">
              <a:buNone/>
            </a:pPr>
            <a:r>
              <a:rPr lang="en-US" sz="1150" b="1" dirty="0">
                <a:solidFill>
                  <a:srgbClr val="0B3C49"/>
                </a:solidFill>
                <a:latin typeface="Courier New" pitchFamily="34" charset="0"/>
                <a:ea typeface="Courier New" pitchFamily="34" charset="-122"/>
                <a:cs typeface="Courier New" pitchFamily="34" charset="-120"/>
              </a:rPr>
              <a:t>confidence = 0.30·g + 0.25·d + 0.15·v + 0.30·a</a:t>
            </a:r>
            <a:endParaRPr lang="en-US" sz="1150" dirty="0"/>
          </a:p>
        </p:txBody>
      </p:sp>
      <p:sp>
        <p:nvSpPr>
          <p:cNvPr id="15" name="Shape 13"/>
          <p:cNvSpPr/>
          <p:nvPr/>
        </p:nvSpPr>
        <p:spPr>
          <a:xfrm>
            <a:off x="502920" y="3913632"/>
            <a:ext cx="5760720" cy="2395728"/>
          </a:xfrm>
          <a:prstGeom prst="roundRect">
            <a:avLst>
              <a:gd name="adj" fmla="val 3435"/>
            </a:avLst>
          </a:prstGeom>
          <a:solidFill>
            <a:srgbClr val="FDF3E7"/>
          </a:solidFill>
          <a:ln w="12700">
            <a:solidFill>
              <a:srgbClr val="FDF3E7"/>
            </a:solidFill>
            <a:prstDash val="solid"/>
          </a:ln>
        </p:spPr>
      </p:sp>
      <p:sp>
        <p:nvSpPr>
          <p:cNvPr id="16" name="Text 14"/>
          <p:cNvSpPr/>
          <p:nvPr/>
        </p:nvSpPr>
        <p:spPr>
          <a:xfrm>
            <a:off x="777240" y="4078224"/>
            <a:ext cx="5303520" cy="274320"/>
          </a:xfrm>
          <a:prstGeom prst="rect">
            <a:avLst/>
          </a:prstGeom>
          <a:noFill/>
          <a:ln/>
        </p:spPr>
        <p:txBody>
          <a:bodyPr wrap="square" lIns="0" tIns="0" rIns="0" bIns="0" rtlCol="0" anchor="ctr"/>
          <a:lstStyle/>
          <a:p>
            <a:pPr indent="0" marL="0">
              <a:buNone/>
            </a:pPr>
            <a:r>
              <a:rPr lang="en-US" sz="1350" b="1" dirty="0">
                <a:solidFill>
                  <a:srgbClr val="0B3C49"/>
                </a:solidFill>
                <a:latin typeface="Calibri" pitchFamily="34" charset="0"/>
                <a:ea typeface="Calibri" pitchFamily="34" charset="-122"/>
                <a:cs typeface="Calibri" pitchFamily="34" charset="-120"/>
              </a:rPr>
              <a:t>The gate that does the work</a:t>
            </a:r>
            <a:endParaRPr lang="en-US" sz="1350" dirty="0"/>
          </a:p>
        </p:txBody>
      </p:sp>
      <p:sp>
        <p:nvSpPr>
          <p:cNvPr id="17" name="Text 15"/>
          <p:cNvSpPr/>
          <p:nvPr/>
        </p:nvSpPr>
        <p:spPr>
          <a:xfrm>
            <a:off x="777240" y="4407408"/>
            <a:ext cx="5257800" cy="1737360"/>
          </a:xfrm>
          <a:prstGeom prst="rect">
            <a:avLst/>
          </a:prstGeom>
          <a:noFill/>
          <a:ln/>
        </p:spPr>
        <p:txBody>
          <a:bodyPr wrap="square" lIns="0" tIns="0" rIns="0" bIns="0" rtlCol="0" anchor="ctr"/>
          <a:lstStyle/>
          <a:p>
            <a:pPr indent="0" marL="0">
              <a:lnSpc>
                <a:spcPts val="1500"/>
              </a:lnSpc>
              <a:buNone/>
            </a:pPr>
            <a:r>
              <a:rPr lang="en-US" sz="1100" dirty="0">
                <a:solidFill>
                  <a:srgbClr val="4A4034"/>
                </a:solidFill>
                <a:latin typeface="Calibri" pitchFamily="34" charset="0"/>
                <a:ea typeface="Calibri" pitchFamily="34" charset="-122"/>
                <a:cs typeface="Calibri" pitchFamily="34" charset="-120"/>
              </a:rPr>
              <a:t>Named entities — patient, diagnosis, drug, allergen — hard-gate on presence. A name that is not in the text is an invention, full stop.</a:t>
            </a:r>
            <a:endParaRPr lang="en-US" sz="1100" dirty="0"/>
          </a:p>
          <a:p>
            <a:pPr indent="0" marL="0">
              <a:lnSpc>
                <a:spcPts val="1500"/>
              </a:lnSpc>
              <a:buNone/>
            </a:pPr>
            <a:endParaRPr lang="en-US" sz="1100" dirty="0"/>
          </a:p>
          <a:p>
            <a:pPr indent="0" marL="0">
              <a:lnSpc>
                <a:spcPts val="1500"/>
              </a:lnSpc>
              <a:buNone/>
            </a:pPr>
            <a:r>
              <a:rPr lang="en-US" sz="1100" dirty="0">
                <a:solidFill>
                  <a:srgbClr val="4A4034"/>
                </a:solidFill>
                <a:latin typeface="Calibri" pitchFamily="34" charset="0"/>
                <a:ea typeface="Calibri" pitchFamily="34" charset="-122"/>
                <a:cs typeface="Calibri" pitchFamily="34" charset="-120"/>
              </a:rPr>
              <a:t>Numerics deliberately do not: 37.6 °C correctly extracts as 99.7 °F, and “one hundred and twelve” as 112. Neither literal appears in the document. Hard-gating those would punish the model for doing the conversion the schema asked for.</a:t>
            </a:r>
            <a:endParaRPr lang="en-US" sz="1100" dirty="0"/>
          </a:p>
          <a:p>
            <a:pPr indent="0" marL="0">
              <a:lnSpc>
                <a:spcPts val="1500"/>
              </a:lnSpc>
              <a:buNone/>
            </a:pPr>
            <a:endParaRPr lang="en-US" sz="1100" dirty="0"/>
          </a:p>
          <a:p>
            <a:pPr indent="0" marL="0">
              <a:lnSpc>
                <a:spcPts val="1500"/>
              </a:lnSpc>
              <a:buNone/>
            </a:pPr>
            <a:r>
              <a:rPr lang="en-US" sz="1100" dirty="0">
                <a:solidFill>
                  <a:srgbClr val="4A4034"/>
                </a:solidFill>
                <a:latin typeface="Calibri" pitchFamily="34" charset="0"/>
                <a:ea typeface="Calibri" pitchFamily="34" charset="-122"/>
                <a:cs typeface="Calibri" pitchFamily="34" charset="-120"/>
              </a:rPr>
              <a:t>Lists are filtered per item. A medication list that is 4/5 correct is not 80% safe — the phantom fifth entry is the entire risk.</a:t>
            </a:r>
            <a:endParaRPr lang="en-US" sz="1100" dirty="0"/>
          </a:p>
        </p:txBody>
      </p:sp>
      <p:sp>
        <p:nvSpPr>
          <p:cNvPr id="18" name="Shape 16"/>
          <p:cNvSpPr/>
          <p:nvPr/>
        </p:nvSpPr>
        <p:spPr>
          <a:xfrm>
            <a:off x="6537960" y="1371600"/>
            <a:ext cx="5120640" cy="2395728"/>
          </a:xfrm>
          <a:prstGeom prst="roundRect">
            <a:avLst>
              <a:gd name="adj" fmla="val 3435"/>
            </a:avLst>
          </a:prstGeom>
          <a:solidFill>
            <a:srgbClr val="EDF3F5"/>
          </a:solidFill>
          <a:ln w="12700">
            <a:solidFill>
              <a:srgbClr val="EDF3F5"/>
            </a:solidFill>
            <a:prstDash val="solid"/>
          </a:ln>
        </p:spPr>
      </p:sp>
      <p:sp>
        <p:nvSpPr>
          <p:cNvPr id="19" name="Text 17"/>
          <p:cNvSpPr/>
          <p:nvPr/>
        </p:nvSpPr>
        <p:spPr>
          <a:xfrm>
            <a:off x="6812280" y="1536192"/>
            <a:ext cx="4572000" cy="274320"/>
          </a:xfrm>
          <a:prstGeom prst="rect">
            <a:avLst/>
          </a:prstGeom>
          <a:noFill/>
          <a:ln/>
        </p:spPr>
        <p:txBody>
          <a:bodyPr wrap="square" lIns="0" tIns="0" rIns="0" bIns="0" rtlCol="0" anchor="ctr"/>
          <a:lstStyle/>
          <a:p>
            <a:pPr indent="0" marL="0">
              <a:buNone/>
            </a:pPr>
            <a:r>
              <a:rPr lang="en-US" sz="1350" b="1" dirty="0">
                <a:solidFill>
                  <a:srgbClr val="0B3C49"/>
                </a:solidFill>
                <a:latin typeface="Calibri" pitchFamily="34" charset="0"/>
                <a:ea typeface="Calibri" pitchFamily="34" charset="-122"/>
                <a:cs typeface="Calibri" pitchFamily="34" charset="-120"/>
              </a:rPr>
              <a:t>Measured, not asserted</a:t>
            </a:r>
            <a:endParaRPr lang="en-US" sz="1350" dirty="0"/>
          </a:p>
        </p:txBody>
      </p:sp>
      <p:sp>
        <p:nvSpPr>
          <p:cNvPr id="20" name="Text 18"/>
          <p:cNvSpPr/>
          <p:nvPr/>
        </p:nvSpPr>
        <p:spPr>
          <a:xfrm>
            <a:off x="6812280" y="1901952"/>
            <a:ext cx="1234440" cy="457200"/>
          </a:xfrm>
          <a:prstGeom prst="rect">
            <a:avLst/>
          </a:prstGeom>
          <a:noFill/>
          <a:ln/>
        </p:spPr>
        <p:txBody>
          <a:bodyPr wrap="square" lIns="0" tIns="0" rIns="0" bIns="0" rtlCol="0" anchor="ctr"/>
          <a:lstStyle/>
          <a:p>
            <a:pPr indent="0" marL="0">
              <a:buNone/>
            </a:pPr>
            <a:r>
              <a:rPr lang="en-US" sz="2100" b="1" dirty="0">
                <a:solidFill>
                  <a:srgbClr val="12786E"/>
                </a:solidFill>
                <a:latin typeface="Cambria" pitchFamily="34" charset="0"/>
                <a:ea typeface="Cambria" pitchFamily="34" charset="-122"/>
                <a:cs typeface="Cambria" pitchFamily="34" charset="-120"/>
              </a:rPr>
              <a:t>96.2%</a:t>
            </a:r>
            <a:endParaRPr lang="en-US" sz="2100" dirty="0"/>
          </a:p>
        </p:txBody>
      </p:sp>
      <p:sp>
        <p:nvSpPr>
          <p:cNvPr id="21" name="Text 19"/>
          <p:cNvSpPr/>
          <p:nvPr/>
        </p:nvSpPr>
        <p:spPr>
          <a:xfrm>
            <a:off x="8092440" y="1901952"/>
            <a:ext cx="3383280" cy="457200"/>
          </a:xfrm>
          <a:prstGeom prst="rect">
            <a:avLst/>
          </a:prstGeom>
          <a:noFill/>
          <a:ln/>
        </p:spPr>
        <p:txBody>
          <a:bodyPr wrap="square" lIns="0" tIns="0" rIns="0" bIns="0" rtlCol="0" anchor="ctr"/>
          <a:lstStyle/>
          <a:p>
            <a:pPr indent="0" marL="0">
              <a:lnSpc>
                <a:spcPts val="1200"/>
              </a:lnSpc>
              <a:buNone/>
            </a:pPr>
            <a:r>
              <a:rPr lang="en-US" sz="1100" b="1" dirty="0">
                <a:solidFill>
                  <a:srgbClr val="0B3C49"/>
                </a:solidFill>
                <a:latin typeface="Calibri" pitchFamily="34" charset="0"/>
                <a:ea typeface="Calibri" pitchFamily="34" charset="-122"/>
                <a:cs typeface="Calibri" pitchFamily="34" charset="-120"/>
              </a:rPr>
              <a:t>fabrications caught
</a:t>
            </a:r>
            <a:pPr indent="0" marL="0">
              <a:lnSpc>
                <a:spcPts val="1200"/>
              </a:lnSpc>
              <a:buNone/>
            </a:pPr>
            <a:r>
              <a:rPr lang="en-US" sz="950" dirty="0">
                <a:solidFill>
                  <a:srgbClr val="5B6B7C"/>
                </a:solidFill>
                <a:latin typeface="Calibri" pitchFamily="34" charset="0"/>
                <a:ea typeface="Calibri" pitchFamily="34" charset="-122"/>
                <a:cs typeface="Calibri" pitchFamily="34" charset="-120"/>
              </a:rPr>
              <a:t>under fault injection (50 / 52)</a:t>
            </a:r>
            <a:endParaRPr lang="en-US" sz="1100" dirty="0"/>
          </a:p>
        </p:txBody>
      </p:sp>
      <p:sp>
        <p:nvSpPr>
          <p:cNvPr id="22" name="Text 20"/>
          <p:cNvSpPr/>
          <p:nvPr/>
        </p:nvSpPr>
        <p:spPr>
          <a:xfrm>
            <a:off x="6812280" y="2505456"/>
            <a:ext cx="1234440" cy="457200"/>
          </a:xfrm>
          <a:prstGeom prst="rect">
            <a:avLst/>
          </a:prstGeom>
          <a:noFill/>
          <a:ln/>
        </p:spPr>
        <p:txBody>
          <a:bodyPr wrap="square" lIns="0" tIns="0" rIns="0" bIns="0" rtlCol="0" anchor="ctr"/>
          <a:lstStyle/>
          <a:p>
            <a:pPr indent="0" marL="0">
              <a:buNone/>
            </a:pPr>
            <a:r>
              <a:rPr lang="en-US" sz="2100" b="1" dirty="0">
                <a:solidFill>
                  <a:srgbClr val="12786E"/>
                </a:solidFill>
                <a:latin typeface="Cambria" pitchFamily="34" charset="0"/>
                <a:ea typeface="Cambria" pitchFamily="34" charset="-122"/>
                <a:cs typeface="Cambria" pitchFamily="34" charset="-120"/>
              </a:rPr>
              <a:t>0.0%</a:t>
            </a:r>
            <a:endParaRPr lang="en-US" sz="2100" dirty="0"/>
          </a:p>
        </p:txBody>
      </p:sp>
      <p:sp>
        <p:nvSpPr>
          <p:cNvPr id="23" name="Text 21"/>
          <p:cNvSpPr/>
          <p:nvPr/>
        </p:nvSpPr>
        <p:spPr>
          <a:xfrm>
            <a:off x="8092440" y="2505456"/>
            <a:ext cx="3383280" cy="457200"/>
          </a:xfrm>
          <a:prstGeom prst="rect">
            <a:avLst/>
          </a:prstGeom>
          <a:noFill/>
          <a:ln/>
        </p:spPr>
        <p:txBody>
          <a:bodyPr wrap="square" lIns="0" tIns="0" rIns="0" bIns="0" rtlCol="0" anchor="ctr"/>
          <a:lstStyle/>
          <a:p>
            <a:pPr indent="0" marL="0">
              <a:lnSpc>
                <a:spcPts val="1200"/>
              </a:lnSpc>
              <a:buNone/>
            </a:pPr>
            <a:r>
              <a:rPr lang="en-US" sz="1100" b="1" dirty="0">
                <a:solidFill>
                  <a:srgbClr val="0B3C49"/>
                </a:solidFill>
                <a:latin typeface="Calibri" pitchFamily="34" charset="0"/>
                <a:ea typeface="Calibri" pitchFamily="34" charset="-122"/>
                <a:cs typeface="Calibri" pitchFamily="34" charset="-120"/>
              </a:rPr>
              <a:t>false block rate
</a:t>
            </a:r>
            <a:pPr indent="0" marL="0">
              <a:lnSpc>
                <a:spcPts val="1200"/>
              </a:lnSpc>
              <a:buNone/>
            </a:pPr>
            <a:r>
              <a:rPr lang="en-US" sz="950" dirty="0">
                <a:solidFill>
                  <a:srgbClr val="5B6B7C"/>
                </a:solidFill>
                <a:latin typeface="Calibri" pitchFamily="34" charset="0"/>
                <a:ea typeface="Calibri" pitchFamily="34" charset="-122"/>
                <a:cs typeface="Calibri" pitchFamily="34" charset="-120"/>
              </a:rPr>
              <a:t>0 of 143 clean fields withheld</a:t>
            </a:r>
            <a:endParaRPr lang="en-US" sz="1100" dirty="0"/>
          </a:p>
        </p:txBody>
      </p:sp>
      <p:sp>
        <p:nvSpPr>
          <p:cNvPr id="24" name="Text 22"/>
          <p:cNvSpPr/>
          <p:nvPr/>
        </p:nvSpPr>
        <p:spPr>
          <a:xfrm>
            <a:off x="6812280" y="3108960"/>
            <a:ext cx="1234440" cy="457200"/>
          </a:xfrm>
          <a:prstGeom prst="rect">
            <a:avLst/>
          </a:prstGeom>
          <a:noFill/>
          <a:ln/>
        </p:spPr>
        <p:txBody>
          <a:bodyPr wrap="square" lIns="0" tIns="0" rIns="0" bIns="0" rtlCol="0" anchor="ctr"/>
          <a:lstStyle/>
          <a:p>
            <a:pPr indent="0" marL="0">
              <a:buNone/>
            </a:pPr>
            <a:r>
              <a:rPr lang="en-US" sz="2100" b="1" dirty="0">
                <a:solidFill>
                  <a:srgbClr val="C26401"/>
                </a:solidFill>
                <a:latin typeface="Cambria" pitchFamily="34" charset="0"/>
                <a:ea typeface="Cambria" pitchFamily="34" charset="-122"/>
                <a:cs typeface="Cambria" pitchFamily="34" charset="-120"/>
              </a:rPr>
              <a:t>14.0%</a:t>
            </a:r>
            <a:endParaRPr lang="en-US" sz="2100" dirty="0"/>
          </a:p>
        </p:txBody>
      </p:sp>
      <p:sp>
        <p:nvSpPr>
          <p:cNvPr id="25" name="Text 23"/>
          <p:cNvSpPr/>
          <p:nvPr/>
        </p:nvSpPr>
        <p:spPr>
          <a:xfrm>
            <a:off x="8092440" y="3108960"/>
            <a:ext cx="3383280" cy="457200"/>
          </a:xfrm>
          <a:prstGeom prst="rect">
            <a:avLst/>
          </a:prstGeom>
          <a:noFill/>
          <a:ln/>
        </p:spPr>
        <p:txBody>
          <a:bodyPr wrap="square" lIns="0" tIns="0" rIns="0" bIns="0" rtlCol="0" anchor="ctr"/>
          <a:lstStyle/>
          <a:p>
            <a:pPr indent="0" marL="0">
              <a:lnSpc>
                <a:spcPts val="1200"/>
              </a:lnSpc>
              <a:buNone/>
            </a:pPr>
            <a:r>
              <a:rPr lang="en-US" sz="1100" b="1" dirty="0">
                <a:solidFill>
                  <a:srgbClr val="0B3C49"/>
                </a:solidFill>
                <a:latin typeface="Calibri" pitchFamily="34" charset="0"/>
                <a:ea typeface="Calibri" pitchFamily="34" charset="-122"/>
                <a:cs typeface="Calibri" pitchFamily="34" charset="-120"/>
              </a:rPr>
              <a:t>baseline silent error
</a:t>
            </a:r>
            <a:pPr indent="0" marL="0">
              <a:lnSpc>
                <a:spcPts val="1200"/>
              </a:lnSpc>
              <a:buNone/>
            </a:pPr>
            <a:r>
              <a:rPr lang="en-US" sz="950" dirty="0">
                <a:solidFill>
                  <a:srgbClr val="5B6B7C"/>
                </a:solidFill>
                <a:latin typeface="Calibri" pitchFamily="34" charset="0"/>
                <a:ea typeface="Calibri" pitchFamily="34" charset="-122"/>
                <a:cs typeface="Calibri" pitchFamily="34" charset="-120"/>
              </a:rPr>
              <a:t>regex control arm, for comparison</a:t>
            </a:r>
            <a:endParaRPr lang="en-US" sz="1100" dirty="0"/>
          </a:p>
        </p:txBody>
      </p:sp>
      <p:sp>
        <p:nvSpPr>
          <p:cNvPr id="26" name="Shape 24"/>
          <p:cNvSpPr/>
          <p:nvPr/>
        </p:nvSpPr>
        <p:spPr>
          <a:xfrm>
            <a:off x="6537960" y="3913632"/>
            <a:ext cx="5120640" cy="2395728"/>
          </a:xfrm>
          <a:prstGeom prst="roundRect">
            <a:avLst>
              <a:gd name="adj" fmla="val 3435"/>
            </a:avLst>
          </a:prstGeom>
          <a:solidFill>
            <a:srgbClr val="0E323D"/>
          </a:solidFill>
          <a:ln w="12700">
            <a:solidFill>
              <a:srgbClr val="0E323D"/>
            </a:solidFill>
            <a:prstDash val="solid"/>
          </a:ln>
        </p:spPr>
      </p:sp>
      <p:sp>
        <p:nvSpPr>
          <p:cNvPr id="27" name="Text 25"/>
          <p:cNvSpPr/>
          <p:nvPr/>
        </p:nvSpPr>
        <p:spPr>
          <a:xfrm>
            <a:off x="6812280" y="4023360"/>
            <a:ext cx="4572000" cy="219456"/>
          </a:xfrm>
          <a:prstGeom prst="rect">
            <a:avLst/>
          </a:prstGeom>
          <a:noFill/>
          <a:ln/>
        </p:spPr>
        <p:txBody>
          <a:bodyPr wrap="square" lIns="0" tIns="0" rIns="0" bIns="0" rtlCol="0" anchor="ctr"/>
          <a:lstStyle/>
          <a:p>
            <a:pPr indent="0" marL="0">
              <a:buNone/>
            </a:pPr>
            <a:r>
              <a:rPr lang="en-US" sz="950" dirty="0">
                <a:solidFill>
                  <a:srgbClr val="7FB3BE"/>
                </a:solidFill>
                <a:latin typeface="Courier New" pitchFamily="34" charset="0"/>
                <a:ea typeface="Courier New" pitchFamily="34" charset="-122"/>
                <a:cs typeface="Courier New" pitchFamily="34" charset="-120"/>
              </a:rPr>
              <a:t>cdi/verify.py</a:t>
            </a:r>
            <a:endParaRPr lang="en-US" sz="950" dirty="0"/>
          </a:p>
        </p:txBody>
      </p:sp>
      <p:sp>
        <p:nvSpPr>
          <p:cNvPr id="28" name="Text 26"/>
          <p:cNvSpPr/>
          <p:nvPr/>
        </p:nvSpPr>
        <p:spPr>
          <a:xfrm>
            <a:off x="6812280" y="4315968"/>
            <a:ext cx="4663440" cy="1828800"/>
          </a:xfrm>
          <a:prstGeom prst="rect">
            <a:avLst/>
          </a:prstGeom>
          <a:noFill/>
          <a:ln/>
        </p:spPr>
        <p:txBody>
          <a:bodyPr wrap="square" lIns="0" tIns="0" rIns="0" bIns="0" rtlCol="0" anchor="ctr"/>
          <a:lstStyle/>
          <a:p>
            <a:pPr indent="0" marL="0">
              <a:lnSpc>
                <a:spcPts val="1140"/>
              </a:lnSpc>
              <a:buNone/>
            </a:pPr>
            <a:r>
              <a:rPr lang="en-US" sz="900" dirty="0">
                <a:solidFill>
                  <a:srgbClr val="CFE6EA"/>
                </a:solidFill>
                <a:latin typeface="Courier New" pitchFamily="34" charset="0"/>
                <a:ea typeface="Courier New" pitchFamily="34" charset="-122"/>
                <a:cs typeface="Courier New" pitchFamily="34" charset="-120"/>
              </a:rPr>
              <a:t>g = grounding_score(quote, doc)</a:t>
            </a:r>
            <a:endParaRPr lang="en-US" sz="900" dirty="0"/>
          </a:p>
          <a:p>
            <a:pPr indent="0" marL="0">
              <a:lnSpc>
                <a:spcPts val="1140"/>
              </a:lnSpc>
              <a:buNone/>
            </a:pPr>
            <a:r>
              <a:rPr lang="en-US" sz="900" dirty="0">
                <a:solidFill>
                  <a:srgbClr val="CFE6EA"/>
                </a:solidFill>
                <a:latin typeface="Courier New" pitchFamily="34" charset="0"/>
                <a:ea typeface="Courier New" pitchFamily="34" charset="-122"/>
                <a:cs typeface="Courier New" pitchFamily="34" charset="-120"/>
              </a:rPr>
              <a:t>d = presence_score(value, doc)</a:t>
            </a:r>
            <a:endParaRPr lang="en-US" sz="900" dirty="0"/>
          </a:p>
          <a:p>
            <a:pPr indent="0" marL="0">
              <a:lnSpc>
                <a:spcPts val="1140"/>
              </a:lnSpc>
              <a:buNone/>
            </a:pPr>
            <a:r>
              <a:rPr lang="en-US" sz="900" dirty="0">
                <a:solidFill>
                  <a:srgbClr val="CFE6EA"/>
                </a:solidFill>
                <a:latin typeface="Courier New" pitchFamily="34" charset="0"/>
                <a:ea typeface="Courier New" pitchFamily="34" charset="-122"/>
                <a:cs typeface="Courier New" pitchFamily="34" charset="-120"/>
              </a:rPr>
              <a:t>v = support_score(value, quote)</a:t>
            </a:r>
            <a:endParaRPr lang="en-US" sz="900" dirty="0"/>
          </a:p>
          <a:p>
            <a:pPr indent="0" marL="0">
              <a:lnSpc>
                <a:spcPts val="1140"/>
              </a:lnSpc>
              <a:buNone/>
            </a:pPr>
            <a:r>
              <a:rPr lang="en-US" sz="900" dirty="0">
                <a:solidFill>
                  <a:srgbClr val="CFE6EA"/>
                </a:solidFill>
                <a:latin typeface="Courier New" pitchFamily="34" charset="0"/>
                <a:ea typeface="Courier New" pitchFamily="34" charset="-122"/>
                <a:cs typeface="Courier New" pitchFamily="34" charset="-120"/>
              </a:rPr>
              <a:t>a = agreement_score(samples)</a:t>
            </a:r>
            <a:endParaRPr lang="en-US" sz="900" dirty="0"/>
          </a:p>
          <a:p>
            <a:pPr indent="0" marL="0">
              <a:lnSpc>
                <a:spcPts val="1140"/>
              </a:lnSpc>
              <a:buNone/>
            </a:pPr>
            <a:endParaRPr lang="en-US" sz="900" dirty="0"/>
          </a:p>
          <a:p>
            <a:pPr indent="0" marL="0">
              <a:lnSpc>
                <a:spcPts val="1140"/>
              </a:lnSpc>
              <a:buNone/>
            </a:pPr>
            <a:r>
              <a:rPr lang="en-US" sz="900" dirty="0">
                <a:solidFill>
                  <a:srgbClr val="CFE6EA"/>
                </a:solidFill>
                <a:latin typeface="Courier New" pitchFamily="34" charset="0"/>
                <a:ea typeface="Courier New" pitchFamily="34" charset="-122"/>
                <a:cs typeface="Courier New" pitchFamily="34" charset="-120"/>
              </a:rPr>
              <a:t>fabricated = (g &lt; GATE) or (</a:t>
            </a:r>
            <a:endParaRPr lang="en-US" sz="900" dirty="0"/>
          </a:p>
          <a:p>
            <a:pPr indent="0" marL="0">
              <a:lnSpc>
                <a:spcPts val="1140"/>
              </a:lnSpc>
              <a:buNone/>
            </a:pPr>
            <a:r>
              <a:rPr lang="en-US" sz="900" dirty="0">
                <a:solidFill>
                  <a:srgbClr val="CFE6EA"/>
                </a:solidFill>
                <a:latin typeface="Courier New" pitchFamily="34" charset="0"/>
                <a:ea typeface="Courier New" pitchFamily="34" charset="-122"/>
                <a:cs typeface="Courier New" pitchFamily="34" charset="-120"/>
              </a:rPr>
              <a:t>    d &lt; GATE and not is_numeric(value))</a:t>
            </a:r>
            <a:endParaRPr lang="en-US" sz="900" dirty="0"/>
          </a:p>
          <a:p>
            <a:pPr indent="0" marL="0">
              <a:lnSpc>
                <a:spcPts val="1140"/>
              </a:lnSpc>
              <a:buNone/>
            </a:pPr>
            <a:endParaRPr lang="en-US" sz="900" dirty="0"/>
          </a:p>
          <a:p>
            <a:pPr indent="0" marL="0">
              <a:lnSpc>
                <a:spcPts val="1140"/>
              </a:lnSpc>
              <a:buNone/>
            </a:pPr>
            <a:r>
              <a:rPr lang="en-US" sz="900" dirty="0">
                <a:solidFill>
                  <a:srgbClr val="CFE6EA"/>
                </a:solidFill>
                <a:latin typeface="Courier New" pitchFamily="34" charset="0"/>
                <a:ea typeface="Courier New" pitchFamily="34" charset="-122"/>
                <a:cs typeface="Courier New" pitchFamily="34" charset="-120"/>
              </a:rPr>
              <a:t>if fabricated:  UNGROUNDED  # withhold</a:t>
            </a:r>
            <a:endParaRPr lang="en-US" sz="900" dirty="0"/>
          </a:p>
          <a:p>
            <a:pPr indent="0" marL="0">
              <a:lnSpc>
                <a:spcPts val="1140"/>
              </a:lnSpc>
              <a:buNone/>
            </a:pPr>
            <a:r>
              <a:rPr lang="en-US" sz="900" dirty="0">
                <a:solidFill>
                  <a:srgbClr val="CFE6EA"/>
                </a:solidFill>
                <a:latin typeface="Courier New" pitchFamily="34" charset="0"/>
                <a:ea typeface="Courier New" pitchFamily="34" charset="-122"/>
                <a:cs typeface="Courier New" pitchFamily="34" charset="-120"/>
              </a:rPr>
              <a:t>elif dropped:   ABSTAINED   # list invention</a:t>
            </a:r>
            <a:endParaRPr lang="en-US" sz="900" dirty="0"/>
          </a:p>
          <a:p>
            <a:pPr indent="0" marL="0">
              <a:lnSpc>
                <a:spcPts val="1140"/>
              </a:lnSpc>
              <a:buNone/>
            </a:pPr>
            <a:r>
              <a:rPr lang="en-US" sz="900" dirty="0">
                <a:solidFill>
                  <a:srgbClr val="CFE6EA"/>
                </a:solidFill>
                <a:latin typeface="Courier New" pitchFamily="34" charset="0"/>
                <a:ea typeface="Courier New" pitchFamily="34" charset="-122"/>
                <a:cs typeface="Courier New" pitchFamily="34" charset="-120"/>
              </a:rPr>
              <a:t>elif conf &lt; T:  ABSTAINED   # low confidence</a:t>
            </a:r>
            <a:endParaRPr lang="en-US" sz="900" dirty="0"/>
          </a:p>
          <a:p>
            <a:pPr indent="0" marL="0">
              <a:lnSpc>
                <a:spcPts val="1140"/>
              </a:lnSpc>
              <a:buNone/>
            </a:pPr>
            <a:r>
              <a:rPr lang="en-US" sz="900" dirty="0">
                <a:solidFill>
                  <a:srgbClr val="CFE6EA"/>
                </a:solidFill>
                <a:latin typeface="Courier New" pitchFamily="34" charset="0"/>
                <a:ea typeface="Courier New" pitchFamily="34" charset="-122"/>
                <a:cs typeface="Courier New" pitchFamily="34" charset="-120"/>
              </a:rPr>
              <a:t>else:           EXTRACTED   # show it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10896"/>
            <a:ext cx="11155680" cy="566928"/>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Challenges and Learnings</a:t>
            </a:r>
            <a:endParaRPr lang="en-US" sz="3000" dirty="0"/>
          </a:p>
        </p:txBody>
      </p:sp>
      <p:sp>
        <p:nvSpPr>
          <p:cNvPr id="3" name="Text 1"/>
          <p:cNvSpPr/>
          <p:nvPr/>
        </p:nvSpPr>
        <p:spPr>
          <a:xfrm>
            <a:off x="502920" y="905256"/>
            <a:ext cx="11155680" cy="310896"/>
          </a:xfrm>
          <a:prstGeom prst="rect">
            <a:avLst/>
          </a:prstGeom>
          <a:noFill/>
          <a:ln/>
        </p:spPr>
        <p:txBody>
          <a:bodyPr wrap="square" lIns="0" tIns="0" rIns="0" bIns="0" rtlCol="0" anchor="ctr"/>
          <a:lstStyle/>
          <a:p>
            <a:pPr indent="0" marL="0">
              <a:buNone/>
            </a:pPr>
            <a:r>
              <a:rPr lang="en-US" sz="1350" i="1" dirty="0">
                <a:solidFill>
                  <a:srgbClr val="5B6B7C"/>
                </a:solidFill>
                <a:latin typeface="Calibri" pitchFamily="34" charset="0"/>
                <a:ea typeface="Calibri" pitchFamily="34" charset="-122"/>
                <a:cs typeface="Calibri" pitchFamily="34" charset="-120"/>
              </a:rPr>
              <a:t>Three of these were my own bugs, found by measurement rather than by reading the code again.</a:t>
            </a:r>
            <a:endParaRPr lang="en-US" sz="1350" dirty="0"/>
          </a:p>
        </p:txBody>
      </p:sp>
      <p:sp>
        <p:nvSpPr>
          <p:cNvPr id="4" name="Shape 2"/>
          <p:cNvSpPr/>
          <p:nvPr/>
        </p:nvSpPr>
        <p:spPr>
          <a:xfrm>
            <a:off x="502920" y="1389888"/>
            <a:ext cx="11155680" cy="1097280"/>
          </a:xfrm>
          <a:prstGeom prst="roundRect">
            <a:avLst>
              <a:gd name="adj" fmla="val 7500"/>
            </a:avLst>
          </a:prstGeom>
          <a:solidFill>
            <a:srgbClr val="F4F7F8"/>
          </a:solidFill>
          <a:ln w="12700">
            <a:solidFill>
              <a:srgbClr val="F4F7F8"/>
            </a:solidFill>
            <a:prstDash val="solid"/>
          </a:ln>
        </p:spPr>
      </p:sp>
      <p:sp>
        <p:nvSpPr>
          <p:cNvPr id="5" name="Shape 3"/>
          <p:cNvSpPr/>
          <p:nvPr/>
        </p:nvSpPr>
        <p:spPr>
          <a:xfrm>
            <a:off x="713232" y="1719072"/>
            <a:ext cx="420624" cy="420624"/>
          </a:xfrm>
          <a:prstGeom prst="ellipse">
            <a:avLst/>
          </a:prstGeom>
          <a:solidFill>
            <a:srgbClr val="B3261E"/>
          </a:solidFill>
          <a:ln w="12700">
            <a:solidFill>
              <a:srgbClr val="B3261E"/>
            </a:solidFill>
            <a:prstDash val="solid"/>
          </a:ln>
        </p:spPr>
      </p:sp>
      <p:sp>
        <p:nvSpPr>
          <p:cNvPr id="6" name="Text 4"/>
          <p:cNvSpPr/>
          <p:nvPr/>
        </p:nvSpPr>
        <p:spPr>
          <a:xfrm>
            <a:off x="713232" y="17190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98448" y="1517904"/>
            <a:ext cx="10149840" cy="274320"/>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My corpus was marking its own homework</a:t>
            </a:r>
            <a:endParaRPr lang="en-US" sz="1300" dirty="0"/>
          </a:p>
        </p:txBody>
      </p:sp>
      <p:sp>
        <p:nvSpPr>
          <p:cNvPr id="8" name="Text 6"/>
          <p:cNvSpPr/>
          <p:nvPr/>
        </p:nvSpPr>
        <p:spPr>
          <a:xfrm>
            <a:off x="1298448" y="1792224"/>
            <a:ext cx="10149840" cy="640080"/>
          </a:xfrm>
          <a:prstGeom prst="rect">
            <a:avLst/>
          </a:prstGeom>
          <a:noFill/>
          <a:ln/>
        </p:spPr>
        <p:txBody>
          <a:bodyPr wrap="square" lIns="0" tIns="0" rIns="0" bIns="0" rtlCol="0" anchor="ctr"/>
          <a:lstStyle/>
          <a:p>
            <a:pPr indent="0" marL="0">
              <a:lnSpc>
                <a:spcPts val="1350"/>
              </a:lnSpc>
              <a:buNone/>
            </a:pPr>
            <a:r>
              <a:rPr lang="en-US" sz="1050" dirty="0">
                <a:solidFill>
                  <a:srgbClr val="5B6B7C"/>
                </a:solidFill>
                <a:latin typeface="Calibri" pitchFamily="34" charset="0"/>
                <a:ea typeface="Calibri" pitchFamily="34" charset="-122"/>
                <a:cs typeface="Calibri" pitchFamily="34" charset="-120"/>
              </a:rPr>
              <a:t>The first eval gave the regex baseline 99.4%. I had written both the templates and the regexes, so they matched by construction. I added 15 free-prose narrative documents — spelled-out numbers, Celsius, no field labels. The baseline fell to 86% and missed 177 fields. A benchmark you author yourself flatters you until you deliberately attack it.</a:t>
            </a:r>
            <a:endParaRPr lang="en-US" sz="1050" dirty="0"/>
          </a:p>
        </p:txBody>
      </p:sp>
      <p:sp>
        <p:nvSpPr>
          <p:cNvPr id="9" name="Shape 7"/>
          <p:cNvSpPr/>
          <p:nvPr/>
        </p:nvSpPr>
        <p:spPr>
          <a:xfrm>
            <a:off x="502920" y="2615184"/>
            <a:ext cx="11155680" cy="1097280"/>
          </a:xfrm>
          <a:prstGeom prst="roundRect">
            <a:avLst>
              <a:gd name="adj" fmla="val 7500"/>
            </a:avLst>
          </a:prstGeom>
          <a:solidFill>
            <a:srgbClr val="FFFFFF"/>
          </a:solidFill>
          <a:ln w="12700">
            <a:solidFill>
              <a:srgbClr val="FFFFFF"/>
            </a:solidFill>
            <a:prstDash val="solid"/>
          </a:ln>
        </p:spPr>
      </p:sp>
      <p:sp>
        <p:nvSpPr>
          <p:cNvPr id="10" name="Shape 8"/>
          <p:cNvSpPr/>
          <p:nvPr/>
        </p:nvSpPr>
        <p:spPr>
          <a:xfrm>
            <a:off x="713232" y="2944368"/>
            <a:ext cx="420624" cy="420624"/>
          </a:xfrm>
          <a:prstGeom prst="ellipse">
            <a:avLst/>
          </a:prstGeom>
          <a:solidFill>
            <a:srgbClr val="C26401"/>
          </a:solidFill>
          <a:ln w="12700">
            <a:solidFill>
              <a:srgbClr val="C26401"/>
            </a:solidFill>
            <a:prstDash val="solid"/>
          </a:ln>
        </p:spPr>
      </p:sp>
      <p:sp>
        <p:nvSpPr>
          <p:cNvPr id="11" name="Text 9"/>
          <p:cNvSpPr/>
          <p:nvPr/>
        </p:nvSpPr>
        <p:spPr>
          <a:xfrm>
            <a:off x="713232" y="29443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298448" y="2743200"/>
            <a:ext cx="10149840" cy="274320"/>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The grounding gate had a hole</a:t>
            </a:r>
            <a:endParaRPr lang="en-US" sz="1300" dirty="0"/>
          </a:p>
        </p:txBody>
      </p:sp>
      <p:sp>
        <p:nvSpPr>
          <p:cNvPr id="13" name="Text 11"/>
          <p:cNvSpPr/>
          <p:nvPr/>
        </p:nvSpPr>
        <p:spPr>
          <a:xfrm>
            <a:off x="1298448" y="3017520"/>
            <a:ext cx="10149840" cy="640080"/>
          </a:xfrm>
          <a:prstGeom prst="rect">
            <a:avLst/>
          </a:prstGeom>
          <a:noFill/>
          <a:ln/>
        </p:spPr>
        <p:txBody>
          <a:bodyPr wrap="square" lIns="0" tIns="0" rIns="0" bIns="0" rtlCol="0" anchor="ctr"/>
          <a:lstStyle/>
          <a:p>
            <a:pPr indent="0" marL="0">
              <a:lnSpc>
                <a:spcPts val="1350"/>
              </a:lnSpc>
              <a:buNone/>
            </a:pPr>
            <a:r>
              <a:rPr lang="en-US" sz="1050" dirty="0">
                <a:solidFill>
                  <a:srgbClr val="5B6B7C"/>
                </a:solidFill>
                <a:latin typeface="Calibri" pitchFamily="34" charset="0"/>
                <a:ea typeface="Calibri" pitchFamily="34" charset="-122"/>
                <a:cs typeface="Calibri" pitchFamily="34" charset="-120"/>
              </a:rPr>
              <a:t>A fabricated patient name passed verification: the quote “Patient Name : &lt;wrong name&gt;” fuzzy-matched the real line because the boilerplate prefix carried the score. Checking the quote is not the same as checking the value. Adding a direct value-in-document test is what actually catches invention.</a:t>
            </a:r>
            <a:endParaRPr lang="en-US" sz="1050" dirty="0"/>
          </a:p>
        </p:txBody>
      </p:sp>
      <p:sp>
        <p:nvSpPr>
          <p:cNvPr id="14" name="Shape 12"/>
          <p:cNvSpPr/>
          <p:nvPr/>
        </p:nvSpPr>
        <p:spPr>
          <a:xfrm>
            <a:off x="502920" y="3840480"/>
            <a:ext cx="11155680" cy="1097280"/>
          </a:xfrm>
          <a:prstGeom prst="roundRect">
            <a:avLst>
              <a:gd name="adj" fmla="val 7500"/>
            </a:avLst>
          </a:prstGeom>
          <a:solidFill>
            <a:srgbClr val="F4F7F8"/>
          </a:solidFill>
          <a:ln w="12700">
            <a:solidFill>
              <a:srgbClr val="F4F7F8"/>
            </a:solidFill>
            <a:prstDash val="solid"/>
          </a:ln>
        </p:spPr>
      </p:sp>
      <p:sp>
        <p:nvSpPr>
          <p:cNvPr id="15" name="Shape 13"/>
          <p:cNvSpPr/>
          <p:nvPr/>
        </p:nvSpPr>
        <p:spPr>
          <a:xfrm>
            <a:off x="713232" y="4169664"/>
            <a:ext cx="420624" cy="420624"/>
          </a:xfrm>
          <a:prstGeom prst="ellipse">
            <a:avLst/>
          </a:prstGeom>
          <a:solidFill>
            <a:srgbClr val="C26401"/>
          </a:solidFill>
          <a:ln w="12700">
            <a:solidFill>
              <a:srgbClr val="C26401"/>
            </a:solidFill>
            <a:prstDash val="solid"/>
          </a:ln>
        </p:spPr>
      </p:sp>
      <p:sp>
        <p:nvSpPr>
          <p:cNvPr id="16" name="Text 14"/>
          <p:cNvSpPr/>
          <p:nvPr/>
        </p:nvSpPr>
        <p:spPr>
          <a:xfrm>
            <a:off x="713232" y="4169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298448" y="3968496"/>
            <a:ext cx="10149840" cy="274320"/>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Correct answers were being rejected</a:t>
            </a:r>
            <a:endParaRPr lang="en-US" sz="1300" dirty="0"/>
          </a:p>
        </p:txBody>
      </p:sp>
      <p:sp>
        <p:nvSpPr>
          <p:cNvPr id="18" name="Text 16"/>
          <p:cNvSpPr/>
          <p:nvPr/>
        </p:nvSpPr>
        <p:spPr>
          <a:xfrm>
            <a:off x="1298448" y="4242816"/>
            <a:ext cx="10149840" cy="640080"/>
          </a:xfrm>
          <a:prstGeom prst="rect">
            <a:avLst/>
          </a:prstGeom>
          <a:noFill/>
          <a:ln/>
        </p:spPr>
        <p:txBody>
          <a:bodyPr wrap="square" lIns="0" tIns="0" rIns="0" bIns="0" rtlCol="0" anchor="ctr"/>
          <a:lstStyle/>
          <a:p>
            <a:pPr indent="0" marL="0">
              <a:lnSpc>
                <a:spcPts val="1350"/>
              </a:lnSpc>
              <a:buNone/>
            </a:pPr>
            <a:r>
              <a:rPr lang="en-US" sz="1050" dirty="0">
                <a:solidFill>
                  <a:srgbClr val="5B6B7C"/>
                </a:solidFill>
                <a:latin typeface="Calibri" pitchFamily="34" charset="0"/>
                <a:ea typeface="Calibri" pitchFamily="34" charset="-122"/>
                <a:cs typeface="Calibri" pitchFamily="34" charset="-120"/>
              </a:rPr>
              <a:t>Hard-gating numerics on presence punished the model for doing the unit conversion the schema asked for. The fix was to make the gate asymmetric — hard for named entities, soft for numerics — and to match spelled-out numbers and Celsius equivalents explicitly.</a:t>
            </a:r>
            <a:endParaRPr lang="en-US" sz="1050" dirty="0"/>
          </a:p>
        </p:txBody>
      </p:sp>
      <p:sp>
        <p:nvSpPr>
          <p:cNvPr id="19" name="Shape 17"/>
          <p:cNvSpPr/>
          <p:nvPr/>
        </p:nvSpPr>
        <p:spPr>
          <a:xfrm>
            <a:off x="502920" y="5065776"/>
            <a:ext cx="11155680" cy="1097280"/>
          </a:xfrm>
          <a:prstGeom prst="roundRect">
            <a:avLst>
              <a:gd name="adj" fmla="val 7500"/>
            </a:avLst>
          </a:prstGeom>
          <a:solidFill>
            <a:srgbClr val="FFFFFF"/>
          </a:solidFill>
          <a:ln w="12700">
            <a:solidFill>
              <a:srgbClr val="FFFFFF"/>
            </a:solidFill>
            <a:prstDash val="solid"/>
          </a:ln>
        </p:spPr>
      </p:sp>
      <p:sp>
        <p:nvSpPr>
          <p:cNvPr id="20" name="Shape 18"/>
          <p:cNvSpPr/>
          <p:nvPr/>
        </p:nvSpPr>
        <p:spPr>
          <a:xfrm>
            <a:off x="713232" y="5394960"/>
            <a:ext cx="420624" cy="420624"/>
          </a:xfrm>
          <a:prstGeom prst="ellipse">
            <a:avLst/>
          </a:prstGeom>
          <a:solidFill>
            <a:srgbClr val="12786E"/>
          </a:solidFill>
          <a:ln w="12700">
            <a:solidFill>
              <a:srgbClr val="12786E"/>
            </a:solidFill>
            <a:prstDash val="solid"/>
          </a:ln>
        </p:spPr>
      </p:sp>
      <p:sp>
        <p:nvSpPr>
          <p:cNvPr id="21" name="Text 19"/>
          <p:cNvSpPr/>
          <p:nvPr/>
        </p:nvSpPr>
        <p:spPr>
          <a:xfrm>
            <a:off x="713232" y="53949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298448" y="5193792"/>
            <a:ext cx="10149840" cy="274320"/>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You cannot measure a hallucination-catcher with an extractor that cannot hallucinate</a:t>
            </a:r>
            <a:endParaRPr lang="en-US" sz="1300" dirty="0"/>
          </a:p>
        </p:txBody>
      </p:sp>
      <p:sp>
        <p:nvSpPr>
          <p:cNvPr id="23" name="Text 21"/>
          <p:cNvSpPr/>
          <p:nvPr/>
        </p:nvSpPr>
        <p:spPr>
          <a:xfrm>
            <a:off x="1298448" y="5468112"/>
            <a:ext cx="10149840" cy="640080"/>
          </a:xfrm>
          <a:prstGeom prst="rect">
            <a:avLst/>
          </a:prstGeom>
          <a:noFill/>
          <a:ln/>
        </p:spPr>
        <p:txBody>
          <a:bodyPr wrap="square" lIns="0" tIns="0" rIns="0" bIns="0" rtlCol="0" anchor="ctr"/>
          <a:lstStyle/>
          <a:p>
            <a:pPr indent="0" marL="0">
              <a:lnSpc>
                <a:spcPts val="1350"/>
              </a:lnSpc>
              <a:buNone/>
            </a:pPr>
            <a:r>
              <a:rPr lang="en-US" sz="1050" dirty="0">
                <a:solidFill>
                  <a:srgbClr val="5B6B7C"/>
                </a:solidFill>
                <a:latin typeface="Calibri" pitchFamily="34" charset="0"/>
                <a:ea typeface="Calibri" pitchFamily="34" charset="-122"/>
                <a:cs typeface="Calibri" pitchFamily="34" charset="-120"/>
              </a:rPr>
              <a:t>The regex baseline only copies or fails, so it showed the verification layer doing nothing. Rather than assert the layer works, I injected synthetic hallucinations at a known rate — real quote, subtly wrong value — and measured a 96.2% catch rate with zero false blocks. No API key needed to reproduce it.</a:t>
            </a:r>
            <a:endParaRPr lang="en-US" sz="1050" dirty="0"/>
          </a:p>
        </p:txBody>
      </p:sp>
      <p:sp>
        <p:nvSpPr>
          <p:cNvPr id="24" name="Text 22"/>
          <p:cNvSpPr/>
          <p:nvPr/>
        </p:nvSpPr>
        <p:spPr>
          <a:xfrm>
            <a:off x="502920" y="6327648"/>
            <a:ext cx="11155680" cy="384048"/>
          </a:xfrm>
          <a:prstGeom prst="rect">
            <a:avLst/>
          </a:prstGeom>
          <a:noFill/>
          <a:ln/>
        </p:spPr>
        <p:txBody>
          <a:bodyPr wrap="square" lIns="0" tIns="0" rIns="0" bIns="0" rtlCol="0" anchor="ctr"/>
          <a:lstStyle/>
          <a:p>
            <a:pPr indent="0" marL="0">
              <a:buNone/>
            </a:pPr>
            <a:r>
              <a:rPr lang="en-US" sz="1100" b="1" i="1" dirty="0">
                <a:solidFill>
                  <a:srgbClr val="0B3C49"/>
                </a:solidFill>
                <a:latin typeface="Calibri" pitchFamily="34" charset="0"/>
                <a:ea typeface="Calibri" pitchFamily="34" charset="-122"/>
                <a:cs typeface="Calibri" pitchFamily="34" charset="-120"/>
              </a:rPr>
              <a:t>The learning that changed the most:  </a:t>
            </a:r>
            <a:pPr indent="0" marL="0">
              <a:buNone/>
            </a:pPr>
            <a:r>
              <a:rPr lang="en-US" sz="1100" i="1" dirty="0">
                <a:solidFill>
                  <a:srgbClr val="5B6B7C"/>
                </a:solidFill>
                <a:latin typeface="Calibri" pitchFamily="34" charset="0"/>
                <a:ea typeface="Calibri" pitchFamily="34" charset="-122"/>
                <a:cs typeface="Calibri" pitchFamily="34" charset="-120"/>
              </a:rPr>
              <a:t>picking silent error rate over accuracy as the headline metric reshaped the system more than any model choice did. Once the number you optimise punishes confident wrongness rather than silence, abstention stops being a failure and becomes a feature.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640080" y="420624"/>
            <a:ext cx="1088136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Demo Summary and Next Steps</a:t>
            </a:r>
            <a:endParaRPr lang="en-US" sz="3000" dirty="0"/>
          </a:p>
        </p:txBody>
      </p:sp>
      <p:sp>
        <p:nvSpPr>
          <p:cNvPr id="3" name="Shape 1"/>
          <p:cNvSpPr/>
          <p:nvPr/>
        </p:nvSpPr>
        <p:spPr>
          <a:xfrm>
            <a:off x="640080" y="1234440"/>
            <a:ext cx="5486400" cy="2651760"/>
          </a:xfrm>
          <a:prstGeom prst="roundRect">
            <a:avLst>
              <a:gd name="adj" fmla="val 3103"/>
            </a:avLst>
          </a:prstGeom>
          <a:solidFill>
            <a:srgbClr val="10495A"/>
          </a:solidFill>
          <a:ln w="12700">
            <a:solidFill>
              <a:srgbClr val="10495A"/>
            </a:solidFill>
            <a:prstDash val="solid"/>
          </a:ln>
        </p:spPr>
      </p:sp>
      <p:sp>
        <p:nvSpPr>
          <p:cNvPr id="4" name="Text 2"/>
          <p:cNvSpPr/>
          <p:nvPr/>
        </p:nvSpPr>
        <p:spPr>
          <a:xfrm>
            <a:off x="896112" y="1389888"/>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Worked example — one discharge summary</a:t>
            </a:r>
            <a:endParaRPr lang="en-US" sz="1300" dirty="0"/>
          </a:p>
        </p:txBody>
      </p:sp>
      <p:sp>
        <p:nvSpPr>
          <p:cNvPr id="5" name="Text 3"/>
          <p:cNvSpPr/>
          <p:nvPr/>
        </p:nvSpPr>
        <p:spPr>
          <a:xfrm>
            <a:off x="896112" y="1700784"/>
            <a:ext cx="5029200" cy="548640"/>
          </a:xfrm>
          <a:prstGeom prst="rect">
            <a:avLst/>
          </a:prstGeom>
          <a:noFill/>
          <a:ln/>
        </p:spPr>
        <p:txBody>
          <a:bodyPr wrap="square" lIns="0" tIns="0" rIns="0" bIns="0" rtlCol="0" anchor="ctr"/>
          <a:lstStyle/>
          <a:p>
            <a:pPr indent="0" marL="0">
              <a:lnSpc>
                <a:spcPts val="1350"/>
              </a:lnSpc>
              <a:buNone/>
            </a:pPr>
            <a:r>
              <a:rPr lang="en-US" sz="1050" dirty="0">
                <a:solidFill>
                  <a:srgbClr val="C9DDE2"/>
                </a:solidFill>
                <a:latin typeface="Calibri" pitchFamily="34" charset="0"/>
                <a:ea typeface="Calibri" pitchFamily="34" charset="-122"/>
                <a:cs typeface="Calibri" pitchFamily="34" charset="-120"/>
              </a:rPr>
              <a:t>Four traps in the source document, all handled: prior-visit vitals ignored · family-history condition excluded · discontinued drug excluded · 10 risk flags raised</a:t>
            </a:r>
            <a:endParaRPr lang="en-US" sz="1050" dirty="0"/>
          </a:p>
        </p:txBody>
      </p:sp>
      <p:sp>
        <p:nvSpPr>
          <p:cNvPr id="6" name="Text 4"/>
          <p:cNvSpPr/>
          <p:nvPr/>
        </p:nvSpPr>
        <p:spPr>
          <a:xfrm>
            <a:off x="896112" y="2304288"/>
            <a:ext cx="5029200" cy="365760"/>
          </a:xfrm>
          <a:prstGeom prst="rect">
            <a:avLst/>
          </a:prstGeom>
          <a:noFill/>
          <a:ln/>
        </p:spPr>
        <p:txBody>
          <a:bodyPr wrap="square" lIns="0" tIns="0" rIns="0" bIns="0" rtlCol="0" anchor="ctr"/>
          <a:lstStyle/>
          <a:p>
            <a:pPr indent="0" marL="0">
              <a:lnSpc>
                <a:spcPts val="1300"/>
              </a:lnSpc>
              <a:buNone/>
            </a:pPr>
            <a:r>
              <a:rPr lang="en-US" sz="1050" b="1" dirty="0">
                <a:solidFill>
                  <a:srgbClr val="FF9E8A"/>
                </a:solidFill>
                <a:latin typeface="Calibri" pitchFamily="34" charset="0"/>
                <a:ea typeface="Calibri" pitchFamily="34" charset="-122"/>
                <a:cs typeface="Calibri" pitchFamily="34" charset="-120"/>
              </a:rPr>
              <a:t>CRITICAL  </a:t>
            </a:r>
            <a:pPr indent="0" marL="0">
              <a:lnSpc>
                <a:spcPts val="1300"/>
              </a:lnSpc>
              <a:buNone/>
            </a:pPr>
            <a:r>
              <a:rPr lang="en-US" sz="1050" dirty="0">
                <a:solidFill>
                  <a:srgbClr val="C9DDE2"/>
                </a:solidFill>
                <a:latin typeface="Calibri" pitchFamily="34" charset="0"/>
                <a:ea typeface="Calibri" pitchFamily="34" charset="-122"/>
                <a:cs typeface="Calibri" pitchFamily="34" charset="-120"/>
              </a:rPr>
              <a:t>Amoxicillin prescribed against a documented penicillin allergy</a:t>
            </a:r>
            <a:endParaRPr lang="en-US" sz="1050" dirty="0"/>
          </a:p>
        </p:txBody>
      </p:sp>
      <p:sp>
        <p:nvSpPr>
          <p:cNvPr id="7" name="Text 5"/>
          <p:cNvSpPr/>
          <p:nvPr/>
        </p:nvSpPr>
        <p:spPr>
          <a:xfrm>
            <a:off x="896112" y="2688336"/>
            <a:ext cx="5029200" cy="365760"/>
          </a:xfrm>
          <a:prstGeom prst="rect">
            <a:avLst/>
          </a:prstGeom>
          <a:noFill/>
          <a:ln/>
        </p:spPr>
        <p:txBody>
          <a:bodyPr wrap="square" lIns="0" tIns="0" rIns="0" bIns="0" rtlCol="0" anchor="ctr"/>
          <a:lstStyle/>
          <a:p>
            <a:pPr indent="0" marL="0">
              <a:lnSpc>
                <a:spcPts val="1300"/>
              </a:lnSpc>
              <a:buNone/>
            </a:pPr>
            <a:r>
              <a:rPr lang="en-US" sz="1050" b="1" dirty="0">
                <a:solidFill>
                  <a:srgbClr val="FF9E8A"/>
                </a:solidFill>
                <a:latin typeface="Calibri" pitchFamily="34" charset="0"/>
                <a:ea typeface="Calibri" pitchFamily="34" charset="-122"/>
                <a:cs typeface="Calibri" pitchFamily="34" charset="-120"/>
              </a:rPr>
              <a:t>CRITICAL  </a:t>
            </a:r>
            <a:pPr indent="0" marL="0">
              <a:lnSpc>
                <a:spcPts val="1300"/>
              </a:lnSpc>
              <a:buNone/>
            </a:pPr>
            <a:r>
              <a:rPr lang="en-US" sz="1050" dirty="0">
                <a:solidFill>
                  <a:srgbClr val="C9DDE2"/>
                </a:solidFill>
                <a:latin typeface="Calibri" pitchFamily="34" charset="0"/>
                <a:ea typeface="Calibri" pitchFamily="34" charset="-122"/>
                <a:cs typeface="Calibri" pitchFamily="34" charset="-120"/>
              </a:rPr>
              <a:t>Metformin contraindicated at eGFR 24</a:t>
            </a:r>
            <a:endParaRPr lang="en-US" sz="1050" dirty="0"/>
          </a:p>
        </p:txBody>
      </p:sp>
      <p:sp>
        <p:nvSpPr>
          <p:cNvPr id="8" name="Text 6"/>
          <p:cNvSpPr/>
          <p:nvPr/>
        </p:nvSpPr>
        <p:spPr>
          <a:xfrm>
            <a:off x="896112" y="3072384"/>
            <a:ext cx="5029200" cy="365760"/>
          </a:xfrm>
          <a:prstGeom prst="rect">
            <a:avLst/>
          </a:prstGeom>
          <a:noFill/>
          <a:ln/>
        </p:spPr>
        <p:txBody>
          <a:bodyPr wrap="square" lIns="0" tIns="0" rIns="0" bIns="0" rtlCol="0" anchor="ctr"/>
          <a:lstStyle/>
          <a:p>
            <a:pPr indent="0" marL="0">
              <a:lnSpc>
                <a:spcPts val="1300"/>
              </a:lnSpc>
              <a:buNone/>
            </a:pPr>
            <a:r>
              <a:rPr lang="en-US" sz="1050" b="1" dirty="0">
                <a:solidFill>
                  <a:srgbClr val="FFC978"/>
                </a:solidFill>
                <a:latin typeface="Calibri" pitchFamily="34" charset="0"/>
                <a:ea typeface="Calibri" pitchFamily="34" charset="-122"/>
                <a:cs typeface="Calibri" pitchFamily="34" charset="-120"/>
              </a:rPr>
              <a:t>HIGH  </a:t>
            </a:r>
            <a:pPr indent="0" marL="0">
              <a:lnSpc>
                <a:spcPts val="1300"/>
              </a:lnSpc>
              <a:buNone/>
            </a:pPr>
            <a:r>
              <a:rPr lang="en-US" sz="1050" dirty="0">
                <a:solidFill>
                  <a:srgbClr val="C9DDE2"/>
                </a:solidFill>
                <a:latin typeface="Calibri" pitchFamily="34" charset="0"/>
                <a:ea typeface="Calibri" pitchFamily="34" charset="-122"/>
                <a:cs typeface="Calibri" pitchFamily="34" charset="-120"/>
              </a:rPr>
              <a:t>Discharged with no follow-up, on a high-risk diagnosis</a:t>
            </a:r>
            <a:endParaRPr lang="en-US" sz="1050" dirty="0"/>
          </a:p>
        </p:txBody>
      </p:sp>
      <p:sp>
        <p:nvSpPr>
          <p:cNvPr id="9" name="Text 7"/>
          <p:cNvSpPr/>
          <p:nvPr/>
        </p:nvSpPr>
        <p:spPr>
          <a:xfrm>
            <a:off x="896112" y="3493008"/>
            <a:ext cx="502920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Routed: IMMEDIATE CLINICAL REVIEW, urgency 100/100</a:t>
            </a:r>
            <a:endParaRPr lang="en-US" sz="1050" dirty="0"/>
          </a:p>
        </p:txBody>
      </p:sp>
      <p:sp>
        <p:nvSpPr>
          <p:cNvPr id="10" name="Shape 8"/>
          <p:cNvSpPr/>
          <p:nvPr/>
        </p:nvSpPr>
        <p:spPr>
          <a:xfrm>
            <a:off x="6400800" y="1234440"/>
            <a:ext cx="5120640" cy="2651760"/>
          </a:xfrm>
          <a:prstGeom prst="roundRect">
            <a:avLst>
              <a:gd name="adj" fmla="val 3103"/>
            </a:avLst>
          </a:prstGeom>
          <a:solidFill>
            <a:srgbClr val="10495A"/>
          </a:solidFill>
          <a:ln w="12700">
            <a:solidFill>
              <a:srgbClr val="10495A"/>
            </a:solidFill>
            <a:prstDash val="solid"/>
          </a:ln>
        </p:spPr>
      </p:sp>
      <p:sp>
        <p:nvSpPr>
          <p:cNvPr id="11" name="Text 9"/>
          <p:cNvSpPr/>
          <p:nvPr/>
        </p:nvSpPr>
        <p:spPr>
          <a:xfrm>
            <a:off x="6656832" y="1389888"/>
            <a:ext cx="4572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runs today</a:t>
            </a:r>
            <a:endParaRPr lang="en-US" sz="1300" dirty="0"/>
          </a:p>
        </p:txBody>
      </p:sp>
      <p:sp>
        <p:nvSpPr>
          <p:cNvPr id="12" name="Text 10"/>
          <p:cNvSpPr/>
          <p:nvPr/>
        </p:nvSpPr>
        <p:spPr>
          <a:xfrm>
            <a:off x="6656832" y="1755648"/>
            <a:ext cx="4663440" cy="914400"/>
          </a:xfrm>
          <a:prstGeom prst="rect">
            <a:avLst/>
          </a:prstGeom>
          <a:noFill/>
          <a:ln/>
        </p:spPr>
        <p:txBody>
          <a:bodyPr wrap="square" lIns="0" tIns="0" rIns="0" bIns="0" rtlCol="0" anchor="ctr"/>
          <a:lstStyle/>
          <a:p>
            <a:pPr indent="0" marL="0">
              <a:lnSpc>
                <a:spcPts val="1500"/>
              </a:lnSpc>
              <a:buNone/>
            </a:pPr>
            <a:r>
              <a:rPr lang="en-US" sz="1000" dirty="0">
                <a:solidFill>
                  <a:srgbClr val="9FD8CE"/>
                </a:solidFill>
                <a:latin typeface="Courier New" pitchFamily="34" charset="0"/>
                <a:ea typeface="Courier New" pitchFamily="34" charset="-122"/>
                <a:cs typeface="Courier New" pitchFamily="34" charset="-120"/>
              </a:rPr>
              <a:t>streamlit run app.py</a:t>
            </a:r>
            <a:endParaRPr lang="en-US" sz="1000" dirty="0"/>
          </a:p>
          <a:p>
            <a:pPr indent="0" marL="0">
              <a:lnSpc>
                <a:spcPts val="1500"/>
              </a:lnSpc>
              <a:buNone/>
            </a:pPr>
            <a:r>
              <a:rPr lang="en-US" sz="1000" dirty="0">
                <a:solidFill>
                  <a:srgbClr val="9FD8CE"/>
                </a:solidFill>
                <a:latin typeface="Courier New" pitchFamily="34" charset="0"/>
                <a:ea typeface="Courier New" pitchFamily="34" charset="-122"/>
                <a:cs typeface="Courier New" pitchFamily="34" charset="-120"/>
              </a:rPr>
              <a:t>python -m cdi.summarize &lt;document&gt;</a:t>
            </a:r>
            <a:endParaRPr lang="en-US" sz="1000" dirty="0"/>
          </a:p>
          <a:p>
            <a:pPr indent="0" marL="0">
              <a:lnSpc>
                <a:spcPts val="1500"/>
              </a:lnSpc>
              <a:buNone/>
            </a:pPr>
            <a:r>
              <a:rPr lang="en-US" sz="1000" dirty="0">
                <a:solidFill>
                  <a:srgbClr val="9FD8CE"/>
                </a:solidFill>
                <a:latin typeface="Courier New" pitchFamily="34" charset="0"/>
                <a:ea typeface="Courier New" pitchFamily="34" charset="-122"/>
                <a:cs typeface="Courier New" pitchFamily="34" charset="-120"/>
              </a:rPr>
              <a:t>python run_eval.py</a:t>
            </a:r>
            <a:endParaRPr lang="en-US" sz="1000" dirty="0"/>
          </a:p>
          <a:p>
            <a:pPr indent="0" marL="0">
              <a:lnSpc>
                <a:spcPts val="1500"/>
              </a:lnSpc>
              <a:buNone/>
            </a:pPr>
            <a:r>
              <a:rPr lang="en-US" sz="1000" dirty="0">
                <a:solidFill>
                  <a:srgbClr val="9FD8CE"/>
                </a:solidFill>
                <a:latin typeface="Courier New" pitchFamily="34" charset="0"/>
                <a:ea typeface="Courier New" pitchFamily="34" charset="-122"/>
                <a:cs typeface="Courier New" pitchFamily="34" charset="-120"/>
              </a:rPr>
              <a:t>python run_eval.py --arm anthropic --k 3</a:t>
            </a:r>
            <a:endParaRPr lang="en-US" sz="1000" dirty="0"/>
          </a:p>
        </p:txBody>
      </p:sp>
      <p:sp>
        <p:nvSpPr>
          <p:cNvPr id="13" name="Text 11"/>
          <p:cNvSpPr/>
          <p:nvPr/>
        </p:nvSpPr>
        <p:spPr>
          <a:xfrm>
            <a:off x="6656832" y="2724912"/>
            <a:ext cx="4663440" cy="1005840"/>
          </a:xfrm>
          <a:prstGeom prst="rect">
            <a:avLst/>
          </a:prstGeom>
          <a:noFill/>
          <a:ln/>
        </p:spPr>
        <p:txBody>
          <a:bodyPr wrap="square" lIns="0" tIns="0" rIns="0" bIns="0" rtlCol="0" anchor="ctr"/>
          <a:lstStyle/>
          <a:p>
            <a:pPr indent="0" marL="0">
              <a:lnSpc>
                <a:spcPts val="1400"/>
              </a:lnSpc>
              <a:buNone/>
            </a:pPr>
            <a:r>
              <a:rPr lang="en-US" sz="1050" dirty="0">
                <a:solidFill>
                  <a:srgbClr val="C9DDE2"/>
                </a:solidFill>
                <a:latin typeface="Calibri" pitchFamily="34" charset="0"/>
                <a:ea typeface="Calibri" pitchFamily="34" charset="-122"/>
                <a:cs typeface="Calibri" pitchFamily="34" charset="-120"/>
              </a:rPr>
              <a:t>The baseline arm, the full evaluation harness and the UI all run with no API key. </a:t>
            </a:r>
            <a:pPr indent="0" marL="0">
              <a:lnSpc>
                <a:spcPts val="1400"/>
              </a:lnSpc>
              <a:buNone/>
            </a:pPr>
            <a:r>
              <a:rPr lang="en-US" sz="1050" b="1" dirty="0">
                <a:solidFill>
                  <a:srgbClr val="FFFFFF"/>
                </a:solidFill>
                <a:latin typeface="Calibri" pitchFamily="34" charset="0"/>
                <a:ea typeface="Calibri" pitchFamily="34" charset="-122"/>
                <a:cs typeface="Calibri" pitchFamily="34" charset="-120"/>
              </a:rPr>
              <a:t>The fault-injection result is reproducible on any machine in one command.</a:t>
            </a:r>
            <a:endParaRPr lang="en-US" sz="1050" dirty="0"/>
          </a:p>
        </p:txBody>
      </p:sp>
      <p:sp>
        <p:nvSpPr>
          <p:cNvPr id="14" name="Text 12"/>
          <p:cNvSpPr/>
          <p:nvPr/>
        </p:nvSpPr>
        <p:spPr>
          <a:xfrm>
            <a:off x="640080" y="4133088"/>
            <a:ext cx="1088136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If I had another week</a:t>
            </a:r>
            <a:endParaRPr lang="en-US" sz="1400" dirty="0"/>
          </a:p>
        </p:txBody>
      </p:sp>
      <p:sp>
        <p:nvSpPr>
          <p:cNvPr id="15" name="Text 13"/>
          <p:cNvSpPr/>
          <p:nvPr/>
        </p:nvSpPr>
        <p:spPr>
          <a:xfrm>
            <a:off x="640080" y="4526280"/>
            <a:ext cx="5212080" cy="237744"/>
          </a:xfrm>
          <a:prstGeom prst="rect">
            <a:avLst/>
          </a:prstGeom>
          <a:noFill/>
          <a:ln/>
        </p:spPr>
        <p:txBody>
          <a:bodyPr wrap="square" lIns="0" tIns="0" rIns="0" bIns="0" rtlCol="0" anchor="ctr"/>
          <a:lstStyle/>
          <a:p>
            <a:pPr indent="0" marL="0">
              <a:buNone/>
            </a:pPr>
            <a:r>
              <a:rPr lang="en-US" sz="1150" b="1" dirty="0">
                <a:solidFill>
                  <a:srgbClr val="6FD3C4"/>
                </a:solidFill>
                <a:latin typeface="Calibri" pitchFamily="34" charset="0"/>
                <a:ea typeface="Calibri" pitchFamily="34" charset="-122"/>
                <a:cs typeface="Calibri" pitchFamily="34" charset="-120"/>
              </a:rPr>
              <a:t>Set the threshold, don't pick it</a:t>
            </a:r>
            <a:endParaRPr lang="en-US" sz="1150" dirty="0"/>
          </a:p>
        </p:txBody>
      </p:sp>
      <p:sp>
        <p:nvSpPr>
          <p:cNvPr id="16" name="Text 14"/>
          <p:cNvSpPr/>
          <p:nvPr/>
        </p:nvSpPr>
        <p:spPr>
          <a:xfrm>
            <a:off x="640080" y="4754880"/>
            <a:ext cx="5212080" cy="566928"/>
          </a:xfrm>
          <a:prstGeom prst="rect">
            <a:avLst/>
          </a:prstGeom>
          <a:noFill/>
          <a:ln/>
        </p:spPr>
        <p:txBody>
          <a:bodyPr wrap="square" lIns="0" tIns="0" rIns="0" bIns="0" rtlCol="0" anchor="ctr"/>
          <a:lstStyle/>
          <a:p>
            <a:pPr indent="0" marL="0">
              <a:lnSpc>
                <a:spcPts val="1250"/>
              </a:lnSpc>
              <a:buNone/>
            </a:pPr>
            <a:r>
              <a:rPr lang="en-US" sz="1000" dirty="0">
                <a:solidFill>
                  <a:srgbClr val="AFC9D0"/>
                </a:solidFill>
                <a:latin typeface="Calibri" pitchFamily="34" charset="0"/>
                <a:ea typeface="Calibri" pitchFamily="34" charset="-122"/>
                <a:cs typeface="Calibri" pitchFamily="34" charset="-120"/>
              </a:rPr>
              <a:t>Fit abstention against an explicit cost ratio for a missed field vs. a wrong one, rather than a hand-chosen 0.70.</a:t>
            </a:r>
            <a:endParaRPr lang="en-US" sz="1000" dirty="0"/>
          </a:p>
        </p:txBody>
      </p:sp>
      <p:sp>
        <p:nvSpPr>
          <p:cNvPr id="17" name="Text 15"/>
          <p:cNvSpPr/>
          <p:nvPr/>
        </p:nvSpPr>
        <p:spPr>
          <a:xfrm>
            <a:off x="6172200" y="4526280"/>
            <a:ext cx="5212080" cy="237744"/>
          </a:xfrm>
          <a:prstGeom prst="rect">
            <a:avLst/>
          </a:prstGeom>
          <a:noFill/>
          <a:ln/>
        </p:spPr>
        <p:txBody>
          <a:bodyPr wrap="square" lIns="0" tIns="0" rIns="0" bIns="0" rtlCol="0" anchor="ctr"/>
          <a:lstStyle/>
          <a:p>
            <a:pPr indent="0" marL="0">
              <a:buNone/>
            </a:pPr>
            <a:r>
              <a:rPr lang="en-US" sz="1150" b="1" dirty="0">
                <a:solidFill>
                  <a:srgbClr val="6FD3C4"/>
                </a:solidFill>
                <a:latin typeface="Calibri" pitchFamily="34" charset="0"/>
                <a:ea typeface="Calibri" pitchFamily="34" charset="-122"/>
                <a:cs typeface="Calibri" pitchFamily="34" charset="-120"/>
              </a:rPr>
              <a:t>Field-level escalation</a:t>
            </a:r>
            <a:endParaRPr lang="en-US" sz="1150" dirty="0"/>
          </a:p>
        </p:txBody>
      </p:sp>
      <p:sp>
        <p:nvSpPr>
          <p:cNvPr id="18" name="Text 16"/>
          <p:cNvSpPr/>
          <p:nvPr/>
        </p:nvSpPr>
        <p:spPr>
          <a:xfrm>
            <a:off x="6172200" y="4754880"/>
            <a:ext cx="5212080" cy="566928"/>
          </a:xfrm>
          <a:prstGeom prst="rect">
            <a:avLst/>
          </a:prstGeom>
          <a:noFill/>
          <a:ln/>
        </p:spPr>
        <p:txBody>
          <a:bodyPr wrap="square" lIns="0" tIns="0" rIns="0" bIns="0" rtlCol="0" anchor="ctr"/>
          <a:lstStyle/>
          <a:p>
            <a:pPr indent="0" marL="0">
              <a:lnSpc>
                <a:spcPts val="1250"/>
              </a:lnSpc>
              <a:buNone/>
            </a:pPr>
            <a:r>
              <a:rPr lang="en-US" sz="1000" dirty="0">
                <a:solidFill>
                  <a:srgbClr val="AFC9D0"/>
                </a:solidFill>
                <a:latin typeface="Calibri" pitchFamily="34" charset="0"/>
                <a:ea typeface="Calibri" pitchFamily="34" charset="-122"/>
                <a:cs typeface="Calibri" pitchFamily="34" charset="-120"/>
              </a:rPr>
              <a:t>Route only the low-confidence fields to a stronger model instead of re-running the whole document.</a:t>
            </a:r>
            <a:endParaRPr lang="en-US" sz="1000" dirty="0"/>
          </a:p>
        </p:txBody>
      </p:sp>
      <p:sp>
        <p:nvSpPr>
          <p:cNvPr id="19" name="Text 17"/>
          <p:cNvSpPr/>
          <p:nvPr/>
        </p:nvSpPr>
        <p:spPr>
          <a:xfrm>
            <a:off x="640080" y="5458968"/>
            <a:ext cx="5212080" cy="237744"/>
          </a:xfrm>
          <a:prstGeom prst="rect">
            <a:avLst/>
          </a:prstGeom>
          <a:noFill/>
          <a:ln/>
        </p:spPr>
        <p:txBody>
          <a:bodyPr wrap="square" lIns="0" tIns="0" rIns="0" bIns="0" rtlCol="0" anchor="ctr"/>
          <a:lstStyle/>
          <a:p>
            <a:pPr indent="0" marL="0">
              <a:buNone/>
            </a:pPr>
            <a:r>
              <a:rPr lang="en-US" sz="1150" b="1" dirty="0">
                <a:solidFill>
                  <a:srgbClr val="6FD3C4"/>
                </a:solidFill>
                <a:latin typeface="Calibri" pitchFamily="34" charset="0"/>
                <a:ea typeface="Calibri" pitchFamily="34" charset="-122"/>
                <a:cs typeface="Calibri" pitchFamily="34" charset="-120"/>
              </a:rPr>
              <a:t>A corpus I didn't write</a:t>
            </a:r>
            <a:endParaRPr lang="en-US" sz="1150" dirty="0"/>
          </a:p>
        </p:txBody>
      </p:sp>
      <p:sp>
        <p:nvSpPr>
          <p:cNvPr id="20" name="Text 18"/>
          <p:cNvSpPr/>
          <p:nvPr/>
        </p:nvSpPr>
        <p:spPr>
          <a:xfrm>
            <a:off x="640080" y="5687568"/>
            <a:ext cx="5212080" cy="566928"/>
          </a:xfrm>
          <a:prstGeom prst="rect">
            <a:avLst/>
          </a:prstGeom>
          <a:noFill/>
          <a:ln/>
        </p:spPr>
        <p:txBody>
          <a:bodyPr wrap="square" lIns="0" tIns="0" rIns="0" bIns="0" rtlCol="0" anchor="ctr"/>
          <a:lstStyle/>
          <a:p>
            <a:pPr indent="0" marL="0">
              <a:lnSpc>
                <a:spcPts val="1250"/>
              </a:lnSpc>
              <a:buNone/>
            </a:pPr>
            <a:r>
              <a:rPr lang="en-US" sz="1000" dirty="0">
                <a:solidFill>
                  <a:srgbClr val="AFC9D0"/>
                </a:solidFill>
                <a:latin typeface="Calibri" pitchFamily="34" charset="0"/>
                <a:ea typeface="Calibri" pitchFamily="34" charset="-122"/>
                <a:cs typeface="Calibri" pitchFamily="34" charset="-120"/>
              </a:rPr>
              <a:t>Re-measure on a public de-identified set and report the delta honestly — my numbers are on synthetic data.</a:t>
            </a:r>
            <a:endParaRPr lang="en-US" sz="1000" dirty="0"/>
          </a:p>
        </p:txBody>
      </p:sp>
      <p:sp>
        <p:nvSpPr>
          <p:cNvPr id="21" name="Text 19"/>
          <p:cNvSpPr/>
          <p:nvPr/>
        </p:nvSpPr>
        <p:spPr>
          <a:xfrm>
            <a:off x="6172200" y="5458968"/>
            <a:ext cx="5212080" cy="237744"/>
          </a:xfrm>
          <a:prstGeom prst="rect">
            <a:avLst/>
          </a:prstGeom>
          <a:noFill/>
          <a:ln/>
        </p:spPr>
        <p:txBody>
          <a:bodyPr wrap="square" lIns="0" tIns="0" rIns="0" bIns="0" rtlCol="0" anchor="ctr"/>
          <a:lstStyle/>
          <a:p>
            <a:pPr indent="0" marL="0">
              <a:buNone/>
            </a:pPr>
            <a:r>
              <a:rPr lang="en-US" sz="1150" b="1" dirty="0">
                <a:solidFill>
                  <a:srgbClr val="6FD3C4"/>
                </a:solidFill>
                <a:latin typeface="Calibri" pitchFamily="34" charset="0"/>
                <a:ea typeface="Calibri" pitchFamily="34" charset="-122"/>
                <a:cs typeface="Calibri" pitchFamily="34" charset="-120"/>
              </a:rPr>
              <a:t>Cross-document reconciliation</a:t>
            </a:r>
            <a:endParaRPr lang="en-US" sz="1150" dirty="0"/>
          </a:p>
        </p:txBody>
      </p:sp>
      <p:sp>
        <p:nvSpPr>
          <p:cNvPr id="22" name="Text 20"/>
          <p:cNvSpPr/>
          <p:nvPr/>
        </p:nvSpPr>
        <p:spPr>
          <a:xfrm>
            <a:off x="6172200" y="5687568"/>
            <a:ext cx="5212080" cy="566928"/>
          </a:xfrm>
          <a:prstGeom prst="rect">
            <a:avLst/>
          </a:prstGeom>
          <a:noFill/>
          <a:ln/>
        </p:spPr>
        <p:txBody>
          <a:bodyPr wrap="square" lIns="0" tIns="0" rIns="0" bIns="0" rtlCol="0" anchor="ctr"/>
          <a:lstStyle/>
          <a:p>
            <a:pPr indent="0" marL="0">
              <a:lnSpc>
                <a:spcPts val="1250"/>
              </a:lnSpc>
              <a:buNone/>
            </a:pPr>
            <a:r>
              <a:rPr lang="en-US" sz="1000" dirty="0">
                <a:solidFill>
                  <a:srgbClr val="AFC9D0"/>
                </a:solidFill>
                <a:latin typeface="Calibri" pitchFamily="34" charset="0"/>
                <a:ea typeface="Calibri" pitchFamily="34" charset="-122"/>
                <a:cs typeface="Calibri" pitchFamily="34" charset="-120"/>
              </a:rPr>
              <a:t>Compare an intake form against its discharge summary and flag contradictions between them.</a:t>
            </a:r>
            <a:endParaRPr lang="en-US" sz="1000" dirty="0"/>
          </a:p>
        </p:txBody>
      </p:sp>
      <p:sp>
        <p:nvSpPr>
          <p:cNvPr id="23" name="Text 21"/>
          <p:cNvSpPr/>
          <p:nvPr/>
        </p:nvSpPr>
        <p:spPr>
          <a:xfrm>
            <a:off x="640080" y="6419088"/>
            <a:ext cx="10881360" cy="274320"/>
          </a:xfrm>
          <a:prstGeom prst="rect">
            <a:avLst/>
          </a:prstGeom>
          <a:noFill/>
          <a:ln/>
        </p:spPr>
        <p:txBody>
          <a:bodyPr wrap="square" lIns="0" tIns="0" rIns="0" bIns="0" rtlCol="0" anchor="ctr"/>
          <a:lstStyle/>
          <a:p>
            <a:pPr indent="0" marL="0">
              <a:buNone/>
            </a:pPr>
            <a:r>
              <a:rPr lang="en-US" sz="1000" dirty="0">
                <a:solidFill>
                  <a:srgbClr val="7FA6B0"/>
                </a:solidFill>
                <a:latin typeface="Calibri" pitchFamily="34" charset="0"/>
                <a:ea typeface="Calibri" pitchFamily="34" charset="-122"/>
                <a:cs typeface="Calibri" pitchFamily="34" charset="-120"/>
              </a:rPr>
              <a:t>Arman   ·   README, evaluation report and full source in the submitted repository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Document Intelligence Hub</dc:title>
  <dc:subject>PptxGenJS Presentation</dc:subject>
  <dc:creator>Arman</dc:creator>
  <cp:lastModifiedBy>Arman</cp:lastModifiedBy>
  <cp:revision>1</cp:revision>
  <dcterms:created xsi:type="dcterms:W3CDTF">2026-08-14T15:01:33Z</dcterms:created>
  <dcterms:modified xsi:type="dcterms:W3CDTF">2026-08-14T15:01:33Z</dcterms:modified>
</cp:coreProperties>
</file>